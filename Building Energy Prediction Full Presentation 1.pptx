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038D3555-08E7-4151-9728-6618BD727660}" type="datetimeFigureOut">
              <a:t>10/30/2026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180F8E2-EF11-4DFE-BBE7-F15DC00BB3A2}" type="slidenum">
              <a:t>‹#›</a:t>
            </a:fld>
            <a:endParaRPr lang="en-US"/>
          </a:p>
        </p:txBody>
      </p:sp>
    </p:spTree>
    <p:extLst>
      <p:ext uri="{BB962C8B-B14F-4D97-AF65-F5344CB8AC3E}">
        <p14:creationId xmlns:p14="http://schemas.microsoft.com/office/powerpoint/2010/main" val="3710242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team CCEB ANATA. Our task was to predict how much energy a building uses per square foot per year, its Site Energy Use Intensity, from its characteristics and local weather. Accurate predictions matter because buildings that use far more energy than predicted are the best candidates for retrofits. Over the next few minutes we’ll walk through how we audited the data, designed a validation that matches the real test, engineered features, compared models, and ended with a test-like RMSE of 25.99, down from 64.88 for a naive baseline.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structure. We start with the task and an audit of the data, because what we found there shaped every later decision. Then we cover how we cleaned the data and designed a validation that mirrors the hidden test set. Next comes feature engineering, including the building-history features that made the biggest difference. Then the models and results, all using models from MATLAB’s Regression Learner app. We finish with the submission and our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Site EUI, the energy a building uses per square foot per year, measured from utility bills. Each row has 63 input columns: building facts such as facility type, floor area, year built and Energy Star rating, plus weather at the building’s location. Predictions are scored by RMSE, root mean squared error, which is in the same units as EUI. Because errors are squared, a few large misses dominate the score. The practical use is retrofit targeting: if a building uses much more than predicted, it’s probably wasting energy.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data has 75,757 rows spread over six anonymised years, and the number of rows grows each year, so year 6 alone is almost 30 percent. The test set is 9,705 rows, all from year 7. Each row is one building in one year, across seven anonymised states, two building classes and sixty facility types. The key point is that we’re predicting a future year, which immediately tells us a random train-test split won’t reflect the real task.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target in numbers. The median building uses about 75 kBtu per square foot per year, but the distribution has a long right tail. The maximum is almost 1,000, 356 training rows are above 400, and the skewness is 4.7. That matters for two reasons. First, RMSE squares errors, so these rare extreme buildings carry a lot of weight in the score. Second, it suggested trying a log-transformed target, which we tested and report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important finding of the audit. State 6 makes up 67 percent of the training data and zero percent of the test data. The test set is dominated by States 11 and 4 instead. The building mix shifts too: residential buildings are 57.5 percent of training but only 42 percent of test. So a model that scores well on all of the training data could be scoring well mostly on State 6, which doesn’t matter for the test. We designed our validation around this.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columns have missing values. The four wind and fog columns are more than half empty in training and close to 90 percent empty in test, so even a perfect relationship couldn’t be used at prediction time. We dropped them. Energy Star rating is missing for about a third of training rows, but it’s a strong signal when present, so we kept it and added a flag for whether it’s missing. Year built has a few gaps plus six rows recorded as zero, which we treat as missing.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cleaning step is tied to something we saw in the audit. We drop the four wind and fog columns and the year index. A year built of zero becomes missing. A missing Energy Star rating gets its own flag. Floor area is log-scaled because it spans several orders of magnitude, and the 36 monthly temperature columns are summarised into winter, summer and annual range. Finally, the text columns are converted to categoricals with the same categories in train and test, so a state or facility type means the same thing in both. The same cleaning function runs on train and test.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test is a future year, we hold out the most recent year instead of a random sample. We train on years 1 to 5, 53,308 rows, and validate on year 6, 22,449 rows. Because the test set has no State 6, we also compute a test-like score on the 9,432 year-6 rows outside State 6, and every model decision uses that score. It matters: our first random forest scored 42.8 on all of year 6 but 47.0 on the test-like rows. A random split would have hidden that gap. Once the model is chosen, we retrain on all six years before predicting the test 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feature set. 57 original columns survive cleaning: seven building and location columns, 36 monthly temperatures and 14 annual weather measures. We add five engineered features and four building-history features, for 66 predictors in total. Excluded are the row id, the target itself, the year index, and the four wind and fog columns. The four history features in the highlighted row are the subject of the next slide, and they turned out to be the most important part of the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insight that changed our results. The data has no building ID, but the same buildings come back year after year. State, building class, facility type, floor area and year built never change for a given building, so together they act as an ID. 93.4 percent of test buildings match a building we’ve seen in training. For every row we then look up that building’s energy use in strictly earlier years and create four features: the last known EUI, the average past EUI, how many years of history exist, and how long since it was last seen. Using only earlier years means the model never sees the future, so the validation stays honest. This is the same core idea the top WiDS 2022 teams used.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of the implementation. findgroups turns the five fixed attributes into a numeric building ID. Then, for each year, we keep only the building-year averages from earlier years, find each building’s most recent record and its overall statistics, and write the four lag features into the rows for that year. Because the filter is strictly earlier years, year 6 validation only sees years 1 to 5, and the test year sees years 1 to 6. The whole function is vectorised with groupsummary and ismember, so it runs in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technical detail made a real difference. By default, MATLAB regression trees don’t use surrogate splits, so when a building has a missing value at a split, it stops at that node and gets a rough average instead of a proper prediction. A third of buildings have no Energy Star rating, so this affected a lot of rows. Our fix replaces missing numbers with minus 999, a value far outside every real range, so the tree can learn a separate branch for missing data. The missing-rating flag keeps that information explicit. Linear regression can’t use a sentinel like this, so it uses median imputation from the training years.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we used is available in MATLAB’s Regression Learner app, which keeps the solution easy to reproduce. We start with two baselines: predicting the training mean, and linear regression. Then single regression trees, Bagged Trees, which is a random forest because each split only sees a third of the predictors, and Boosted Trees using least-squares boosting. We tuned the boosted model on a small grid and picked the number of trees from the validation curve. We also tried a small neural network. All are trained in code with fitlm, fitrtree, fitrensemble and fitrnet so the whole comparison runs from one script.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our first full iteration, with 62 predictors and no history features. Each step helped: linear regression beat the mean by about 10 points, and tree ensembles beat linear regression by another 7. The log-transformed target scored slightly worse, so we kept the raw target. Bagged Trees was the best single model at 47.02, and averaging it with tuned Boosted Trees edged it down to 46.84. Notice the test-like column is consistently about 4 points worse than the all-states column, which is exactly why we choose models on the test-like score.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second iteration, with the four history features and the missing-value fix. Every model improved dramatically. Even linear regression dropped from 54 to under 36. The tree ensembles fell by about 44 to 46 percent. Our final model, the average of Bagged Trees and tuned Boosted Trees, reaches 25.99 on the test-like data, against 46.84 before. The small neural network did poorly at 50.6; it would need much more tuning. One interesting change: the test-like score is now better than the all-states score, and since the test set has no State 6, the test-like column is the one that counts.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boosted model we ran a small grid: two tree depths and two leaf sizes at a learning rate of 0.1, each with up to 500 trees, reading the best number of trees off the validation curve. All four settings finished within 0.14 RMSE of each other, so the model isn’t sensitive to these choices. The striking change is the tree count. Without history, boosting needed nearly 500 trees to reach 48.5. With history it peaks after about 40, because the history features already carry most of the signal. When the chosen setting was refit with 38 trees, it scored 26.35, slightly above the grid’s 26.16, because each split samples predictors at random.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models, we looked at predictor importance in the final models trained on all six years. Both agree on the top four: the building’s last known energy use, its average past use, its facility type and its Energy Star rating. The four history features together account for 62 percent of the boosted model’s importance and 49 percent of the bagged model’s. No weather variable makes the top eight of either model. In plain terms, the best predictor of a building’s energy use this year is its energy use last year, adjusted for what kind of building it 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submission, the chosen approach, the average of Bagged Trees and tuned Boosted Trees, is retrained on all 75,757 rows from years 1 to 6, since year 6 is the most recent and most relevant data. It produces 9,705 predictions in the same id order as the sample file, with a mean of 72.4 and median of 61.2. The script asserts that the order matches and that every value is valid before writing the file. Everything runs from a single command, runAll, with fixed random seeds, in about 15 to 25 minutes. The code and README are public on GitHub.</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went from 64.88 RMSE for a naive baseline to 25.99, a 60 percent reduction. Four lessons stand out. Audit the test set before choosing a validation split. Domain insight mattered more than the model: recognising that buildings repeat over the years cut our error by 45 percent. Know how your tools treat missing values. And standard Regression Learner models were enough when used carefully. There are limitations: 6.6 percent of test buildings have no history, so they get weaker predictions, and our validation covers a single year, so the true test score may differ. Next, we’d use the model as intended, flagging buildings that use far more energy than predicted as retrofit candidates. Thank you.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3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08930"/>
          </a:xfrm>
          <a:prstGeom prst="rect">
            <a:avLst/>
          </a:prstGeom>
          <a:noFill/>
          <a:ln/>
        </p:spPr>
        <p:txBody>
          <a:bodyPr wrap="square" lIns="0" tIns="0" rIns="0" bIns="0" rtlCol="0" anchor="t"/>
          <a:lstStyle>
            <a:lvl1pPr marL="0" indent="0" algn="l">
              <a:lnSpc>
                <a:spcPct val="115000"/>
              </a:lnSpc>
              <a:buNone/>
              <a:defRPr lang="en-US" sz="2800" dirty="0">
                <a:solidFill>
                  <a:srgbClr val="1D2125"/>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16050"/>
            <a:ext cx="10566400" cy="4229150"/>
          </a:xfrm>
          <a:prstGeom prst="rect">
            <a:avLst/>
          </a:prstGeom>
          <a:noFill/>
          <a:ln/>
        </p:spPr>
        <p:txBody>
          <a:bodyPr wrap="square" lIns="0" tIns="0" rIns="0" bIns="0" rtlCol="0" anchor="t"/>
          <a:lstStyle>
            <a:lvl1pPr marL="0" indent="0" algn="l">
              <a:lnSpc>
                <a:spcPct val="140000"/>
              </a:lnSpc>
              <a:buNone/>
              <a:defRPr lang="en-US" sz="1600" dirty="0">
                <a:solidFill>
                  <a:srgbClr val="1D2125"/>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3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08930"/>
          </a:xfrm>
          <a:prstGeom prst="rect">
            <a:avLst/>
          </a:prstGeom>
          <a:noFill/>
          <a:ln/>
        </p:spPr>
        <p:txBody>
          <a:bodyPr wrap="square" lIns="0" tIns="0" rIns="0" bIns="0" rtlCol="0" anchor="t"/>
          <a:lstStyle>
            <a:lvl1pPr marL="0" indent="0" algn="l">
              <a:lnSpc>
                <a:spcPct val="115000"/>
              </a:lnSpc>
              <a:buNone/>
              <a:defRPr lang="en-US" sz="2800" dirty="0">
                <a:solidFill>
                  <a:srgbClr val="1D2125"/>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16050"/>
            <a:ext cx="10566400" cy="4229150"/>
          </a:xfrm>
          <a:prstGeom prst="rect">
            <a:avLst/>
          </a:prstGeom>
          <a:noFill/>
          <a:ln/>
        </p:spPr>
        <p:txBody>
          <a:bodyPr wrap="square" lIns="0" tIns="0" rIns="0" bIns="0" rtlCol="0" anchor="t"/>
          <a:lstStyle>
            <a:lvl1pPr marL="0" indent="0" algn="l">
              <a:lnSpc>
                <a:spcPct val="140000"/>
              </a:lnSpc>
              <a:buNone/>
              <a:defRPr lang="en-US" sz="1600" dirty="0">
                <a:solidFill>
                  <a:srgbClr val="1D2125"/>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12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4B9BE"/>
                </a:solidFill>
                <a:latin typeface="Arial" pitchFamily="34" charset="0"/>
                <a:ea typeface="Arial" pitchFamily="34" charset="-122"/>
                <a:cs typeface="Arial" pitchFamily="34" charset="-120"/>
              </a:rPr>
              <a:t>MATLAB HACKATHON 2026 · CCEB ANATA · 30 OCTOBER 2026</a:t>
            </a:r>
            <a:endParaRPr lang="en-US" sz="1200" dirty="0"/>
          </a:p>
        </p:txBody>
      </p:sp>
      <p:sp>
        <p:nvSpPr>
          <p:cNvPr id="3" name="Text 1"/>
          <p:cNvSpPr>
            <a:spLocks noGrp="1"/>
          </p:cNvSpPr>
          <p:nvPr>
            <p:ph type="title"/>
          </p:nvPr>
        </p:nvSpPr>
        <p:spPr>
          <a:xfrm>
            <a:off x="812800" y="2446139"/>
            <a:ext cx="10883392" cy="1342132"/>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EDEDEB"/>
                </a:solidFill>
                <a:latin typeface="Arial" pitchFamily="34" charset="0"/>
                <a:ea typeface="Arial" pitchFamily="34" charset="-122"/>
                <a:cs typeface="Arial" pitchFamily="34" charset="-120"/>
              </a:rPr>
              <a:t>Predicting Building Energy Use Intensity</a:t>
            </a:r>
            <a:endParaRPr lang="en-US" sz="4800" dirty="0"/>
          </a:p>
        </p:txBody>
      </p:sp>
      <p:sp>
        <p:nvSpPr>
          <p:cNvPr id="4" name="Text 2"/>
          <p:cNvSpPr/>
          <p:nvPr/>
        </p:nvSpPr>
        <p:spPr>
          <a:xfrm>
            <a:off x="812800" y="3966071"/>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4B9BE"/>
                </a:solidFill>
                <a:latin typeface="Arial" pitchFamily="34" charset="0"/>
                <a:ea typeface="Arial" pitchFamily="34" charset="-122"/>
                <a:cs typeface="Arial" pitchFamily="34" charset="-120"/>
              </a:rPr>
              <a:t>A validated MATLAB pipeline that predicts Site EUI for 9,705 buildings with a test-like RMSE of 25.99</a:t>
            </a:r>
            <a:endParaRPr lang="en-US" sz="1800" dirty="0"/>
          </a:p>
        </p:txBody>
      </p:sp>
      <p:pic>
        <p:nvPicPr>
          <p:cNvPr id="5" name="Image 0" descr="line"/>
          <p:cNvPicPr>
            <a:picLocks noChangeAspect="1"/>
          </p:cNvPicPr>
          <p:nvPr/>
        </p:nvPicPr>
        <p:blipFill>
          <a:blip r:embed="rId3"/>
          <a:srcRect/>
          <a:stretch/>
        </p:blipFill>
        <p:spPr>
          <a:xfrm>
            <a:off x="812800" y="5706120"/>
            <a:ext cx="10566400" cy="6350"/>
          </a:xfrm>
          <a:prstGeom prst="rect">
            <a:avLst/>
          </a:prstGeom>
        </p:spPr>
      </p:pic>
      <p:sp>
        <p:nvSpPr>
          <p:cNvPr id="6" name="Text 3"/>
          <p:cNvSpPr/>
          <p:nvPr/>
        </p:nvSpPr>
        <p:spPr>
          <a:xfrm>
            <a:off x="812800" y="58140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B9BE"/>
                </a:solidFill>
                <a:latin typeface="Arial" pitchFamily="34" charset="0"/>
                <a:ea typeface="Arial" pitchFamily="34" charset="-122"/>
                <a:cs typeface="Arial" pitchFamily="34" charset="-120"/>
              </a:rPr>
              <a:t>Duong Minh Triet · Nguyen Dang Quang · Huynh Xuan Lam · Vuu Tan Loc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OVERVIEW</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Agenda</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9550"/>
          <a:ext cx="10553700" cy="2743200"/>
        </p:xfrm>
        <a:graphic>
          <a:graphicData uri="http://schemas.openxmlformats.org/drawingml/2006/table">
            <a:tbl>
              <a:tblPr/>
              <a:tblGrid>
                <a:gridCol w="1055370">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5276850">
                  <a:extLst>
                    <a:ext uri="{9D8B030D-6E8A-4147-A177-3AD203B41FA5}">
                      <a16:colId xmlns:a16="http://schemas.microsoft.com/office/drawing/2014/main" val="20002"/>
                    </a:ext>
                  </a:extLst>
                </a:gridCol>
              </a:tblGrid>
              <a:tr h="412750">
                <a:tc>
                  <a:txBody>
                    <a:bodyPr/>
                    <a:lstStyle/>
                    <a:p>
                      <a:pPr marL="0" indent="0">
                        <a:lnSpc>
                          <a:spcPts val="2100"/>
                        </a:lnSpc>
                        <a:buNone/>
                      </a:pPr>
                      <a:r>
                        <a:rPr lang="en-US" sz="1500" b="1" dirty="0">
                          <a:solidFill>
                            <a:srgbClr val="1D2125"/>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2100"/>
                        </a:lnSpc>
                        <a:buNone/>
                      </a:pPr>
                      <a:r>
                        <a:rPr lang="en-US" sz="1500" b="1" dirty="0">
                          <a:solidFill>
                            <a:srgbClr val="1D2125"/>
                          </a:solidFill>
                          <a:latin typeface="Arial" pitchFamily="34" charset="0"/>
                          <a:ea typeface="Arial" pitchFamily="34" charset="-122"/>
                          <a:cs typeface="Arial" pitchFamily="34" charset="-120"/>
                        </a:rPr>
                        <a:t>Section</a:t>
                      </a:r>
                      <a:endParaRPr lang="en-US" sz="1500" dirty="0">
                        <a:latin typeface="Arial" charset="0"/>
                        <a:ea typeface="Arial" charset="0"/>
                        <a:cs typeface="Arial" charset="0"/>
                      </a:endParaRPr>
                    </a:p>
                  </a:txBody>
                  <a:tcPr marL="66675" marR="66675" marT="66675" marB="6667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2100"/>
                        </a:lnSpc>
                        <a:buNone/>
                      </a:pPr>
                      <a:r>
                        <a:rPr lang="en-US" sz="1500" b="1" dirty="0">
                          <a:solidFill>
                            <a:srgbClr val="1D2125"/>
                          </a:solidFill>
                          <a:latin typeface="Arial" pitchFamily="34" charset="0"/>
                          <a:ea typeface="Arial" pitchFamily="34" charset="-122"/>
                          <a:cs typeface="Arial" pitchFamily="34" charset="-120"/>
                        </a:rPr>
                        <a:t>Key question</a:t>
                      </a:r>
                      <a:endParaRPr lang="en-US" sz="1500" dirty="0">
                        <a:latin typeface="Arial" charset="0"/>
                        <a:ea typeface="Arial" charset="0"/>
                        <a:cs typeface="Arial" charset="0"/>
                      </a:endParaRPr>
                    </a:p>
                  </a:txBody>
                  <a:tcPr marL="66675" marR="66675" marT="66675" marB="6667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679450">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Task and data audit</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What are we predicting, and how does test differ from train?</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Cleaning and validation</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How do we measure progress honestly?</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Feature engineering</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Which inputs carry the signal?</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Models and results</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Which Regression Learner model wins, and by how much?</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5</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Submission and conclusions</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2100"/>
                        </a:lnSpc>
                        <a:buNone/>
                      </a:pPr>
                      <a:r>
                        <a:rPr lang="en-US" sz="1500" dirty="0">
                          <a:solidFill>
                            <a:srgbClr val="1D2125"/>
                          </a:solidFill>
                          <a:latin typeface="Arial" pitchFamily="34" charset="0"/>
                          <a:ea typeface="Arial" pitchFamily="34" charset="-122"/>
                          <a:cs typeface="Arial" pitchFamily="34" charset="-120"/>
                        </a:rPr>
                        <a:t>What did we deliver and learn?</a:t>
                      </a:r>
                      <a:endParaRPr lang="en-US" sz="1500" dirty="0">
                        <a:latin typeface="Arial" charset="0"/>
                        <a:ea typeface="Arial" charset="0"/>
                        <a:cs typeface="Arial" charset="0"/>
                      </a:endParaRPr>
                    </a:p>
                  </a:txBody>
                  <a:tcPr marL="66675" marR="66675" marT="66675" marB="6667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Overview · 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1 · TASK</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Predict Site EUI for each building in a future year</a:t>
            </a:r>
            <a:endParaRPr lang="en-US" sz="2800" dirty="0"/>
          </a:p>
        </p:txBody>
      </p:sp>
      <p:sp>
        <p:nvSpPr>
          <p:cNvPr id="4" name="Shape 2"/>
          <p:cNvSpPr/>
          <p:nvPr/>
        </p:nvSpPr>
        <p:spPr>
          <a:xfrm>
            <a:off x="815975" y="1870025"/>
            <a:ext cx="3380284" cy="1997571"/>
          </a:xfrm>
          <a:prstGeom prst="roundRect">
            <a:avLst>
              <a:gd name="adj" fmla="val 3656"/>
            </a:avLst>
          </a:prstGeom>
          <a:solidFill>
            <a:srgbClr val="FAFAF8"/>
          </a:solidFill>
          <a:ln w="6350">
            <a:solidFill>
              <a:srgbClr val="D4D6D8"/>
            </a:solidFill>
            <a:prstDash val="solid"/>
          </a:ln>
        </p:spPr>
      </p:sp>
      <p:sp>
        <p:nvSpPr>
          <p:cNvPr id="5" name="Text 3"/>
          <p:cNvSpPr/>
          <p:nvPr/>
        </p:nvSpPr>
        <p:spPr>
          <a:xfrm>
            <a:off x="1073150" y="2127200"/>
            <a:ext cx="295191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B7177"/>
                </a:solidFill>
                <a:latin typeface="Arial" pitchFamily="34" charset="0"/>
                <a:ea typeface="Arial" pitchFamily="34" charset="-122"/>
                <a:cs typeface="Arial" pitchFamily="34" charset="-120"/>
              </a:rPr>
              <a:t>TARGET</a:t>
            </a:r>
            <a:endParaRPr lang="en-US" sz="1200" dirty="0"/>
          </a:p>
        </p:txBody>
      </p:sp>
      <p:sp>
        <p:nvSpPr>
          <p:cNvPr id="6" name="Text 4"/>
          <p:cNvSpPr/>
          <p:nvPr/>
        </p:nvSpPr>
        <p:spPr>
          <a:xfrm>
            <a:off x="1073150" y="2442121"/>
            <a:ext cx="2951912"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2125"/>
                </a:solidFill>
                <a:latin typeface="Arial" pitchFamily="34" charset="0"/>
                <a:ea typeface="Arial" pitchFamily="34" charset="-122"/>
                <a:cs typeface="Arial" pitchFamily="34" charset="-120"/>
              </a:rPr>
              <a:t>Site EUI</a:t>
            </a:r>
            <a:endParaRPr lang="en-US" sz="1800" dirty="0"/>
          </a:p>
        </p:txBody>
      </p:sp>
      <p:sp>
        <p:nvSpPr>
          <p:cNvPr id="7" name="Text 5"/>
          <p:cNvSpPr/>
          <p:nvPr/>
        </p:nvSpPr>
        <p:spPr>
          <a:xfrm>
            <a:off x="1073150" y="2863751"/>
            <a:ext cx="295191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Energy used per square foot per year (kBtu/ft²), from utility bills</a:t>
            </a:r>
            <a:endParaRPr lang="en-US" sz="1400" dirty="0"/>
          </a:p>
        </p:txBody>
      </p:sp>
      <p:sp>
        <p:nvSpPr>
          <p:cNvPr id="8" name="Shape 6"/>
          <p:cNvSpPr/>
          <p:nvPr/>
        </p:nvSpPr>
        <p:spPr>
          <a:xfrm>
            <a:off x="4405809" y="1870025"/>
            <a:ext cx="3380333" cy="1997571"/>
          </a:xfrm>
          <a:prstGeom prst="roundRect">
            <a:avLst>
              <a:gd name="adj" fmla="val 3656"/>
            </a:avLst>
          </a:prstGeom>
          <a:solidFill>
            <a:srgbClr val="FAFAF8"/>
          </a:solidFill>
          <a:ln w="6350">
            <a:solidFill>
              <a:srgbClr val="D4D6D8"/>
            </a:solidFill>
            <a:prstDash val="solid"/>
          </a:ln>
        </p:spPr>
      </p:sp>
      <p:sp>
        <p:nvSpPr>
          <p:cNvPr id="9" name="Text 7"/>
          <p:cNvSpPr/>
          <p:nvPr/>
        </p:nvSpPr>
        <p:spPr>
          <a:xfrm>
            <a:off x="4662984" y="2127200"/>
            <a:ext cx="2951963"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B7177"/>
                </a:solidFill>
                <a:latin typeface="Arial" pitchFamily="34" charset="0"/>
                <a:ea typeface="Arial" pitchFamily="34" charset="-122"/>
                <a:cs typeface="Arial" pitchFamily="34" charset="-120"/>
              </a:rPr>
              <a:t>INPUTS</a:t>
            </a:r>
            <a:endParaRPr lang="en-US" sz="1200" dirty="0"/>
          </a:p>
        </p:txBody>
      </p:sp>
      <p:sp>
        <p:nvSpPr>
          <p:cNvPr id="10" name="Text 8"/>
          <p:cNvSpPr/>
          <p:nvPr/>
        </p:nvSpPr>
        <p:spPr>
          <a:xfrm>
            <a:off x="4662984" y="2442121"/>
            <a:ext cx="2951963"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2125"/>
                </a:solidFill>
                <a:latin typeface="Arial" pitchFamily="34" charset="0"/>
                <a:ea typeface="Arial" pitchFamily="34" charset="-122"/>
                <a:cs typeface="Arial" pitchFamily="34" charset="-120"/>
              </a:rPr>
              <a:t>62 columns</a:t>
            </a:r>
            <a:endParaRPr lang="en-US" sz="1800" dirty="0"/>
          </a:p>
        </p:txBody>
      </p:sp>
      <p:sp>
        <p:nvSpPr>
          <p:cNvPr id="11" name="Text 9"/>
          <p:cNvSpPr/>
          <p:nvPr/>
        </p:nvSpPr>
        <p:spPr>
          <a:xfrm>
            <a:off x="4662984" y="2863751"/>
            <a:ext cx="295196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Building facts (type, floor area, year built, Energy Star rating) and local weather</a:t>
            </a:r>
            <a:endParaRPr lang="en-US" sz="1400" dirty="0"/>
          </a:p>
        </p:txBody>
      </p:sp>
      <p:sp>
        <p:nvSpPr>
          <p:cNvPr id="12" name="Shape 10"/>
          <p:cNvSpPr/>
          <p:nvPr/>
        </p:nvSpPr>
        <p:spPr>
          <a:xfrm>
            <a:off x="7995692" y="1870025"/>
            <a:ext cx="3380284" cy="1997571"/>
          </a:xfrm>
          <a:prstGeom prst="roundRect">
            <a:avLst>
              <a:gd name="adj" fmla="val 3656"/>
            </a:avLst>
          </a:prstGeom>
          <a:solidFill>
            <a:srgbClr val="FAFAF8"/>
          </a:solidFill>
          <a:ln w="6350">
            <a:solidFill>
              <a:srgbClr val="D4D6D8"/>
            </a:solidFill>
            <a:prstDash val="solid"/>
          </a:ln>
        </p:spPr>
      </p:sp>
      <p:sp>
        <p:nvSpPr>
          <p:cNvPr id="13" name="Text 11"/>
          <p:cNvSpPr/>
          <p:nvPr/>
        </p:nvSpPr>
        <p:spPr>
          <a:xfrm>
            <a:off x="8252867" y="2127200"/>
            <a:ext cx="295191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6B7177"/>
                </a:solidFill>
                <a:latin typeface="Arial" pitchFamily="34" charset="0"/>
                <a:ea typeface="Arial" pitchFamily="34" charset="-122"/>
                <a:cs typeface="Arial" pitchFamily="34" charset="-120"/>
              </a:rPr>
              <a:t>METRIC</a:t>
            </a:r>
            <a:endParaRPr lang="en-US" sz="1200" dirty="0"/>
          </a:p>
        </p:txBody>
      </p:sp>
      <p:sp>
        <p:nvSpPr>
          <p:cNvPr id="14" name="Text 12"/>
          <p:cNvSpPr/>
          <p:nvPr/>
        </p:nvSpPr>
        <p:spPr>
          <a:xfrm>
            <a:off x="8252867" y="2442121"/>
            <a:ext cx="2951912"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D2125"/>
                </a:solidFill>
                <a:latin typeface="Arial" pitchFamily="34" charset="0"/>
                <a:ea typeface="Arial" pitchFamily="34" charset="-122"/>
                <a:cs typeface="Arial" pitchFamily="34" charset="-120"/>
              </a:rPr>
              <a:t>RMSE</a:t>
            </a:r>
            <a:endParaRPr lang="en-US" sz="1800" dirty="0"/>
          </a:p>
        </p:txBody>
      </p:sp>
      <p:sp>
        <p:nvSpPr>
          <p:cNvPr id="15" name="Text 13"/>
          <p:cNvSpPr/>
          <p:nvPr/>
        </p:nvSpPr>
        <p:spPr>
          <a:xfrm>
            <a:off x="8252867" y="2863751"/>
            <a:ext cx="2951912"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Root mean squared error, in EUI units. Lower is better; large misses weigh most.</a:t>
            </a:r>
            <a:endParaRPr lang="en-US" sz="1400" dirty="0"/>
          </a:p>
        </p:txBody>
      </p:sp>
      <p:sp>
        <p:nvSpPr>
          <p:cNvPr id="16" name="Text 14"/>
          <p:cNvSpPr/>
          <p:nvPr/>
        </p:nvSpPr>
        <p:spPr>
          <a:xfrm>
            <a:off x="812800" y="422637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258"/>
                </a:solidFill>
                <a:latin typeface="Arial" pitchFamily="34" charset="0"/>
                <a:ea typeface="Arial" pitchFamily="34" charset="-122"/>
                <a:cs typeface="Arial" pitchFamily="34" charset="-120"/>
              </a:rPr>
              <a:t>Why it matters: buildings that use far more energy than their prediction are the strongest retrofit candidates.</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Data: WiDS Datathon 2022 · Task and data audit · 3 / 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1 · DATA AUDIT</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75,757 training rows over six years; test is year 7</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5702300" cy="3088088"/>
        </p:xfrm>
        <a:graphic>
          <a:graphicData uri="http://schemas.openxmlformats.org/drawingml/2006/table">
            <a:tbl>
              <a:tblPr/>
              <a:tblGrid>
                <a:gridCol w="2280920">
                  <a:extLst>
                    <a:ext uri="{9D8B030D-6E8A-4147-A177-3AD203B41FA5}">
                      <a16:colId xmlns:a16="http://schemas.microsoft.com/office/drawing/2014/main" val="20000"/>
                    </a:ext>
                  </a:extLst>
                </a:gridCol>
                <a:gridCol w="1710690">
                  <a:extLst>
                    <a:ext uri="{9D8B030D-6E8A-4147-A177-3AD203B41FA5}">
                      <a16:colId xmlns:a16="http://schemas.microsoft.com/office/drawing/2014/main" val="20001"/>
                    </a:ext>
                  </a:extLst>
                </a:gridCol>
                <a:gridCol w="1710690">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D2125"/>
                          </a:solidFill>
                          <a:latin typeface="Arial" pitchFamily="34" charset="0"/>
                          <a:ea typeface="Arial" pitchFamily="34" charset="-122"/>
                          <a:cs typeface="Arial" pitchFamily="34" charset="-120"/>
                        </a:rPr>
                        <a:t>Year</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Rows</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Share</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2,117</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9,058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12.0%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3</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10,879</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14.4%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12,946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17.1%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18,308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24.2%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22,449</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29.6%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7 (test)</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9,705</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extLst>
                  <a:ext uri="{0D108BD9-81ED-4DB2-BD59-A6C34878D82A}">
                    <a16:rowId xmlns:a16="http://schemas.microsoft.com/office/drawing/2014/main" val="10007"/>
                  </a:ext>
                </a:extLst>
              </a:tr>
            </a:tbl>
          </a:graphicData>
        </a:graphic>
      </p:graphicFrame>
      <p:sp>
        <p:nvSpPr>
          <p:cNvPr id="5" name="Text 2"/>
          <p:cNvSpPr/>
          <p:nvPr/>
        </p:nvSpPr>
        <p:spPr>
          <a:xfrm>
            <a:off x="6934200" y="1816050"/>
            <a:ext cx="457835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258"/>
                </a:solidFill>
                <a:latin typeface="Arial" pitchFamily="34" charset="0"/>
                <a:ea typeface="Arial" pitchFamily="34" charset="-122"/>
                <a:cs typeface="Arial" pitchFamily="34" charset="-120"/>
              </a:rPr>
              <a:t>Each row is one building in one year.</a:t>
            </a:r>
            <a:endParaRPr lang="en-US" sz="1500" dirty="0"/>
          </a:p>
        </p:txBody>
      </p:sp>
      <p:sp>
        <p:nvSpPr>
          <p:cNvPr id="6" name="Text 3"/>
          <p:cNvSpPr/>
          <p:nvPr/>
        </p:nvSpPr>
        <p:spPr>
          <a:xfrm>
            <a:off x="6934200" y="2235150"/>
            <a:ext cx="4578350"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4B5258"/>
                </a:solidFill>
                <a:latin typeface="Arial" pitchFamily="34" charset="0"/>
                <a:ea typeface="Arial" pitchFamily="34" charset="-122"/>
                <a:cs typeface="Arial" pitchFamily="34" charset="-120"/>
              </a:rPr>
              <a:t>7</a:t>
            </a:r>
            <a:r>
              <a:rPr lang="en-US" sz="1500" dirty="0">
                <a:solidFill>
                  <a:srgbClr val="4B5258"/>
                </a:solidFill>
                <a:latin typeface="Arial" pitchFamily="34" charset="0"/>
                <a:ea typeface="Arial" pitchFamily="34" charset="-122"/>
                <a:cs typeface="Arial" pitchFamily="34" charset="-120"/>
              </a:rPr>
              <a:t> anonymised states, </a:t>
            </a:r>
            <a:r>
              <a:rPr lang="en-US" sz="1500" b="1" dirty="0">
                <a:solidFill>
                  <a:srgbClr val="4B5258"/>
                </a:solidFill>
                <a:latin typeface="Arial" pitchFamily="34" charset="0"/>
                <a:ea typeface="Arial" pitchFamily="34" charset="-122"/>
                <a:cs typeface="Arial" pitchFamily="34" charset="-120"/>
              </a:rPr>
              <a:t>2</a:t>
            </a:r>
            <a:r>
              <a:rPr lang="en-US" sz="1500" dirty="0">
                <a:solidFill>
                  <a:srgbClr val="4B5258"/>
                </a:solidFill>
                <a:latin typeface="Arial" pitchFamily="34" charset="0"/>
                <a:ea typeface="Arial" pitchFamily="34" charset="-122"/>
                <a:cs typeface="Arial" pitchFamily="34" charset="-120"/>
              </a:rPr>
              <a:t> building classes, </a:t>
            </a:r>
            <a:r>
              <a:rPr lang="en-US" sz="1500" b="1" dirty="0">
                <a:solidFill>
                  <a:srgbClr val="4B5258"/>
                </a:solidFill>
                <a:latin typeface="Arial" pitchFamily="34" charset="0"/>
                <a:ea typeface="Arial" pitchFamily="34" charset="-122"/>
                <a:cs typeface="Arial" pitchFamily="34" charset="-120"/>
              </a:rPr>
              <a:t>60</a:t>
            </a:r>
            <a:r>
              <a:rPr lang="en-US" sz="1500" dirty="0">
                <a:solidFill>
                  <a:srgbClr val="4B5258"/>
                </a:solidFill>
                <a:latin typeface="Arial" pitchFamily="34" charset="0"/>
                <a:ea typeface="Arial" pitchFamily="34" charset="-122"/>
                <a:cs typeface="Arial" pitchFamily="34" charset="-120"/>
              </a:rPr>
              <a:t> facility types.</a:t>
            </a:r>
            <a:endParaRPr lang="en-US" sz="1500" dirty="0"/>
          </a:p>
        </p:txBody>
      </p:sp>
      <p:sp>
        <p:nvSpPr>
          <p:cNvPr id="7" name="Text 4"/>
          <p:cNvSpPr/>
          <p:nvPr/>
        </p:nvSpPr>
        <p:spPr>
          <a:xfrm>
            <a:off x="6934200" y="2920950"/>
            <a:ext cx="457835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258"/>
                </a:solidFill>
                <a:latin typeface="Arial" pitchFamily="34" charset="0"/>
                <a:ea typeface="Arial" pitchFamily="34" charset="-122"/>
                <a:cs typeface="Arial" pitchFamily="34" charset="-120"/>
              </a:rPr>
              <a:t>Recent years dominate: year 6 alone is </a:t>
            </a:r>
            <a:r>
              <a:rPr lang="en-US" sz="1500" b="1" dirty="0">
                <a:solidFill>
                  <a:srgbClr val="4B5258"/>
                </a:solidFill>
                <a:latin typeface="Arial" pitchFamily="34" charset="0"/>
                <a:ea typeface="Arial" pitchFamily="34" charset="-122"/>
                <a:cs typeface="Arial" pitchFamily="34" charset="-120"/>
              </a:rPr>
              <a:t>29.6%</a:t>
            </a:r>
            <a:r>
              <a:rPr lang="en-US" sz="1500" dirty="0">
                <a:solidFill>
                  <a:srgbClr val="4B5258"/>
                </a:solidFill>
                <a:latin typeface="Arial" pitchFamily="34" charset="0"/>
                <a:ea typeface="Arial" pitchFamily="34" charset="-122"/>
                <a:cs typeface="Arial" pitchFamily="34" charset="-120"/>
              </a:rPr>
              <a:t> of training data.</a:t>
            </a:r>
            <a:endParaRPr lang="en-US" sz="15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Source: train.csv, test.csv · Task and data audit · 4 / 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1 · DATA AUDIT</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The target is strongly right-skewed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4813300" cy="3088084"/>
        </p:xfrm>
        <a:graphic>
          <a:graphicData uri="http://schemas.openxmlformats.org/drawingml/2006/table">
            <a:tbl>
              <a:tblPr/>
              <a:tblGrid>
                <a:gridCol w="2887980">
                  <a:extLst>
                    <a:ext uri="{9D8B030D-6E8A-4147-A177-3AD203B41FA5}">
                      <a16:colId xmlns:a16="http://schemas.microsoft.com/office/drawing/2014/main" val="20000"/>
                    </a:ext>
                  </a:extLst>
                </a:gridCol>
                <a:gridCol w="1925320">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1D2125"/>
                          </a:solidFill>
                          <a:latin typeface="Arial" pitchFamily="34" charset="0"/>
                          <a:ea typeface="Arial" pitchFamily="34" charset="-122"/>
                          <a:cs typeface="Arial" pitchFamily="34" charset="-120"/>
                        </a:rPr>
                        <a:t>Site EUI statistic</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Value</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Mean</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82.6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Standard deviation</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58.3</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Minimum</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25th percentile</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54.5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Median</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75.3</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75th percentile</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97.3</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Maximum</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997.9</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6045200" y="1816050"/>
            <a:ext cx="549402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D2125"/>
                </a:solidFill>
                <a:latin typeface="Arial" pitchFamily="34" charset="0"/>
                <a:ea typeface="Arial" pitchFamily="34" charset="-122"/>
                <a:cs typeface="Arial" pitchFamily="34" charset="-120"/>
              </a:rPr>
              <a:t>356</a:t>
            </a:r>
            <a:endParaRPr lang="en-US" sz="3600" dirty="0"/>
          </a:p>
        </p:txBody>
      </p:sp>
      <p:sp>
        <p:nvSpPr>
          <p:cNvPr id="6" name="Text 3"/>
          <p:cNvSpPr/>
          <p:nvPr/>
        </p:nvSpPr>
        <p:spPr>
          <a:xfrm>
            <a:off x="6045200" y="2324050"/>
            <a:ext cx="549402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training rows above 400, more than 5× the median</a:t>
            </a:r>
            <a:endParaRPr lang="en-US" sz="1400" dirty="0"/>
          </a:p>
        </p:txBody>
      </p:sp>
      <p:sp>
        <p:nvSpPr>
          <p:cNvPr id="7" name="Text 4"/>
          <p:cNvSpPr/>
          <p:nvPr/>
        </p:nvSpPr>
        <p:spPr>
          <a:xfrm>
            <a:off x="6045200" y="2826941"/>
            <a:ext cx="549402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1D2125"/>
                </a:solidFill>
                <a:latin typeface="Arial" pitchFamily="34" charset="0"/>
                <a:ea typeface="Arial" pitchFamily="34" charset="-122"/>
                <a:cs typeface="Arial" pitchFamily="34" charset="-120"/>
              </a:rPr>
              <a:t>4.7</a:t>
            </a:r>
            <a:endParaRPr lang="en-US" sz="3600" dirty="0"/>
          </a:p>
        </p:txBody>
      </p:sp>
      <p:sp>
        <p:nvSpPr>
          <p:cNvPr id="8" name="Text 5"/>
          <p:cNvSpPr/>
          <p:nvPr/>
        </p:nvSpPr>
        <p:spPr>
          <a:xfrm>
            <a:off x="6045200" y="3334941"/>
            <a:ext cx="549402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skewness. A few extreme buildings dominate RMSE.</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Source: train.csv, n = 75,757 · Task and data audit · 5 / 20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1 · DATA AUDIT</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The test set comes from a different mix of states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5702300" cy="3088084"/>
        </p:xfrm>
        <a:graphic>
          <a:graphicData uri="http://schemas.openxmlformats.org/drawingml/2006/table">
            <a:tbl>
              <a:tblPr/>
              <a:tblGrid>
                <a:gridCol w="2280920">
                  <a:extLst>
                    <a:ext uri="{9D8B030D-6E8A-4147-A177-3AD203B41FA5}">
                      <a16:colId xmlns:a16="http://schemas.microsoft.com/office/drawing/2014/main" val="20000"/>
                    </a:ext>
                  </a:extLst>
                </a:gridCol>
                <a:gridCol w="1710690">
                  <a:extLst>
                    <a:ext uri="{9D8B030D-6E8A-4147-A177-3AD203B41FA5}">
                      <a16:colId xmlns:a16="http://schemas.microsoft.com/office/drawing/2014/main" val="20001"/>
                    </a:ext>
                  </a:extLst>
                </a:gridCol>
                <a:gridCol w="1710690">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D2125"/>
                          </a:solidFill>
                          <a:latin typeface="Arial" pitchFamily="34" charset="0"/>
                          <a:ea typeface="Arial" pitchFamily="34" charset="-122"/>
                          <a:cs typeface="Arial" pitchFamily="34" charset="-120"/>
                        </a:rPr>
                        <a:t>State</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Train share</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Test share</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State 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67.1%</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State 11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8.5%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33.7%</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State 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5.7%</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26.5%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State 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6.4%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15.6%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State 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4.9%</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13.6%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State 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7.4%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10.6%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State 10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&lt;0.1%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&lt;0.1%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6934200" y="1816050"/>
            <a:ext cx="457835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258"/>
                </a:solidFill>
                <a:latin typeface="Arial" pitchFamily="34" charset="0"/>
                <a:ea typeface="Arial" pitchFamily="34" charset="-122"/>
                <a:cs typeface="Arial" pitchFamily="34" charset="-120"/>
              </a:rPr>
              <a:t>Two-thirds of training rows come from a state the model will never be tested on.</a:t>
            </a:r>
            <a:endParaRPr lang="en-US" sz="1500" dirty="0"/>
          </a:p>
        </p:txBody>
      </p:sp>
      <p:sp>
        <p:nvSpPr>
          <p:cNvPr id="6" name="Text 3"/>
          <p:cNvSpPr/>
          <p:nvPr/>
        </p:nvSpPr>
        <p:spPr>
          <a:xfrm>
            <a:off x="6934200" y="2501850"/>
            <a:ext cx="457835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258"/>
                </a:solidFill>
                <a:latin typeface="Arial" pitchFamily="34" charset="0"/>
                <a:ea typeface="Arial" pitchFamily="34" charset="-122"/>
                <a:cs typeface="Arial" pitchFamily="34" charset="-120"/>
              </a:rPr>
              <a:t>Building class also flips: residential is </a:t>
            </a:r>
            <a:r>
              <a:rPr lang="en-US" sz="1500" b="1" dirty="0">
                <a:solidFill>
                  <a:srgbClr val="4B5258"/>
                </a:solidFill>
                <a:latin typeface="Arial" pitchFamily="34" charset="0"/>
                <a:ea typeface="Arial" pitchFamily="34" charset="-122"/>
                <a:cs typeface="Arial" pitchFamily="34" charset="-120"/>
              </a:rPr>
              <a:t>57.5%</a:t>
            </a:r>
            <a:r>
              <a:rPr lang="en-US" sz="1500" dirty="0">
                <a:solidFill>
                  <a:srgbClr val="4B5258"/>
                </a:solidFill>
                <a:latin typeface="Arial" pitchFamily="34" charset="0"/>
                <a:ea typeface="Arial" pitchFamily="34" charset="-122"/>
                <a:cs typeface="Arial" pitchFamily="34" charset="-120"/>
              </a:rPr>
              <a:t> of train but </a:t>
            </a:r>
            <a:r>
              <a:rPr lang="en-US" sz="1500" b="1" dirty="0">
                <a:solidFill>
                  <a:srgbClr val="4B5258"/>
                </a:solidFill>
                <a:latin typeface="Arial" pitchFamily="34" charset="0"/>
                <a:ea typeface="Arial" pitchFamily="34" charset="-122"/>
                <a:cs typeface="Arial" pitchFamily="34" charset="-120"/>
              </a:rPr>
              <a:t>42.2%</a:t>
            </a:r>
            <a:r>
              <a:rPr lang="en-US" sz="1500" dirty="0">
                <a:solidFill>
                  <a:srgbClr val="4B5258"/>
                </a:solidFill>
                <a:latin typeface="Arial" pitchFamily="34" charset="0"/>
                <a:ea typeface="Arial" pitchFamily="34" charset="-122"/>
                <a:cs typeface="Arial" pitchFamily="34" charset="-120"/>
              </a:rPr>
              <a:t> of test.</a:t>
            </a:r>
            <a:endParaRPr lang="en-US" sz="15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Source: train.csv, test.csv · Task and data audit · 6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1 · DATA AUDIT</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Six columns have gaps, four are nearly empty in test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10553700" cy="2702074"/>
        </p:xfrm>
        <a:graphic>
          <a:graphicData uri="http://schemas.openxmlformats.org/drawingml/2006/table">
            <a:tbl>
              <a:tblPr/>
              <a:tblGrid>
                <a:gridCol w="3588258">
                  <a:extLst>
                    <a:ext uri="{9D8B030D-6E8A-4147-A177-3AD203B41FA5}">
                      <a16:colId xmlns:a16="http://schemas.microsoft.com/office/drawing/2014/main" val="20000"/>
                    </a:ext>
                  </a:extLst>
                </a:gridCol>
                <a:gridCol w="1688592">
                  <a:extLst>
                    <a:ext uri="{9D8B030D-6E8A-4147-A177-3AD203B41FA5}">
                      <a16:colId xmlns:a16="http://schemas.microsoft.com/office/drawing/2014/main" val="20001"/>
                    </a:ext>
                  </a:extLst>
                </a:gridCol>
                <a:gridCol w="1688592">
                  <a:extLst>
                    <a:ext uri="{9D8B030D-6E8A-4147-A177-3AD203B41FA5}">
                      <a16:colId xmlns:a16="http://schemas.microsoft.com/office/drawing/2014/main" val="20002"/>
                    </a:ext>
                  </a:extLst>
                </a:gridCol>
                <a:gridCol w="3588258">
                  <a:extLst>
                    <a:ext uri="{9D8B030D-6E8A-4147-A177-3AD203B41FA5}">
                      <a16:colId xmlns:a16="http://schemas.microsoft.com/office/drawing/2014/main" val="20003"/>
                    </a:ext>
                  </a:extLst>
                </a:gridCol>
              </a:tblGrid>
              <a:tr h="386011">
                <a:tc>
                  <a:txBody>
                    <a:bodyPr/>
                    <a:lstStyle/>
                    <a:p>
                      <a:pPr marL="0" indent="0">
                        <a:lnSpc>
                          <a:spcPts val="1960"/>
                        </a:lnSpc>
                        <a:buNone/>
                      </a:pPr>
                      <a:r>
                        <a:rPr lang="en-US" sz="1400" b="1" dirty="0">
                          <a:solidFill>
                            <a:srgbClr val="1D2125"/>
                          </a:solidFill>
                          <a:latin typeface="Arial" pitchFamily="34" charset="0"/>
                          <a:ea typeface="Arial" pitchFamily="34" charset="-122"/>
                          <a:cs typeface="Arial" pitchFamily="34" charset="-120"/>
                        </a:rPr>
                        <a:t>Column</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Missing, train</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Missing, test</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1960"/>
                        </a:lnSpc>
                        <a:buNone/>
                      </a:pPr>
                      <a:r>
                        <a:rPr lang="en-US" sz="1400" b="1" dirty="0">
                          <a:solidFill>
                            <a:srgbClr val="1D2125"/>
                          </a:solidFill>
                          <a:latin typeface="Arial" pitchFamily="34" charset="0"/>
                          <a:ea typeface="Arial" pitchFamily="34" charset="-122"/>
                          <a:cs typeface="Arial" pitchFamily="34" charset="-120"/>
                        </a:rPr>
                        <a:t>Decision</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days_with_fog</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60.5%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93.9%</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Drop</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direction_peak_wind_speed</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55.2%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88.4%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Drop</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direction_max_wind_speed</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54.2%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88.4%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Drop</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max_wind_speed</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54.2%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88.4%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Drop</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energy_star_rating</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35.3%</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23.2%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Keep, add a missing flag</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year_built</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0.9%</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Keep; treat 0 as missing</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4835624"/>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258"/>
                </a:solidFill>
                <a:latin typeface="Arial" pitchFamily="34" charset="0"/>
                <a:ea typeface="Arial" pitchFamily="34" charset="-122"/>
                <a:cs typeface="Arial" pitchFamily="34" charset="-120"/>
              </a:rPr>
              <a:t>All other input columns are complete. Six training rows record year_built as 0.</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Source: train.csv, test.csv · Task and data audit · 7 / 20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2 · CLEANING</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Every cleaning step traces back to an audit finding</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10553700" cy="2981325"/>
        </p:xfrm>
        <a:graphic>
          <a:graphicData uri="http://schemas.openxmlformats.org/drawingml/2006/table">
            <a:tbl>
              <a:tblPr/>
              <a:tblGrid>
                <a:gridCol w="4010406">
                  <a:extLst>
                    <a:ext uri="{9D8B030D-6E8A-4147-A177-3AD203B41FA5}">
                      <a16:colId xmlns:a16="http://schemas.microsoft.com/office/drawing/2014/main" val="20000"/>
                    </a:ext>
                  </a:extLst>
                </a:gridCol>
                <a:gridCol w="6543294">
                  <a:extLst>
                    <a:ext uri="{9D8B030D-6E8A-4147-A177-3AD203B41FA5}">
                      <a16:colId xmlns:a16="http://schemas.microsoft.com/office/drawing/2014/main" val="20001"/>
                    </a:ext>
                  </a:extLst>
                </a:gridCol>
              </a:tblGrid>
              <a:tr h="372666">
                <a:tc>
                  <a:txBody>
                    <a:bodyPr/>
                    <a:lstStyle/>
                    <a:p>
                      <a:pPr marL="0" indent="0">
                        <a:lnSpc>
                          <a:spcPts val="1890"/>
                        </a:lnSpc>
                        <a:buNone/>
                      </a:pPr>
                      <a:r>
                        <a:rPr lang="en-US" sz="1350" b="1" dirty="0">
                          <a:solidFill>
                            <a:srgbClr val="1D2125"/>
                          </a:solidFill>
                          <a:latin typeface="Arial" pitchFamily="34" charset="0"/>
                          <a:ea typeface="Arial" pitchFamily="34" charset="-122"/>
                          <a:cs typeface="Arial" pitchFamily="34" charset="-120"/>
                        </a:rPr>
                        <a:t>Step</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1890"/>
                        </a:lnSpc>
                        <a:buNone/>
                      </a:pPr>
                      <a:r>
                        <a:rPr lang="en-US" sz="1350" b="1" dirty="0">
                          <a:solidFill>
                            <a:srgbClr val="1D2125"/>
                          </a:solidFill>
                          <a:latin typeface="Arial" pitchFamily="34" charset="0"/>
                          <a:ea typeface="Arial" pitchFamily="34" charset="-122"/>
                          <a:cs typeface="Arial" pitchFamily="34" charset="-120"/>
                        </a:rPr>
                        <a:t>Reason</a:t>
                      </a:r>
                      <a:endParaRPr lang="en-US" sz="1350" dirty="0">
                        <a:latin typeface="Arial" charset="0"/>
                        <a:ea typeface="Arial" charset="0"/>
                        <a:cs typeface="Arial" charset="0"/>
                      </a:endParaRPr>
                    </a:p>
                  </a:txBody>
                  <a:tcPr marL="60007" marR="60007" marT="60007" marB="60007">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Drop 4 wind and fog columns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88–94% missing in test</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Drop Year_Factor as a predictor</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Test year 7 lies outside the training range</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year_built = 0 → missing</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Placeholder, not a real year</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Add energy_star_missing flag</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Unrated buildings behave differently from rated ones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Add log_floor_area</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Floor area spans several orders of magnitude</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Add winter, summer and range temperatures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Summarise 36 correlated monthly columns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Shared categories for text columns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Train and test encode states and types identically</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Code: step1_prepare_data.m, cleanFeatures() · Cleaning and validation · 8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2 · VALIDATION</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A time-based split scored on test-like buildings</a:t>
            </a:r>
            <a:endParaRPr lang="en-US" sz="2800" dirty="0"/>
          </a:p>
        </p:txBody>
      </p:sp>
      <p:sp>
        <p:nvSpPr>
          <p:cNvPr id="4" name="Shape 2"/>
          <p:cNvSpPr/>
          <p:nvPr/>
        </p:nvSpPr>
        <p:spPr>
          <a:xfrm>
            <a:off x="812800" y="1816050"/>
            <a:ext cx="5934869" cy="894011"/>
          </a:xfrm>
          <a:custGeom>
            <a:avLst/>
            <a:gdLst/>
            <a:ahLst/>
            <a:cxnLst/>
            <a:rect l="l" t="t" r="r" b="b"/>
            <a:pathLst>
              <a:path w="5934869" h="894011">
                <a:moveTo>
                  <a:pt x="76200" y="0"/>
                </a:moveTo>
                <a:lnTo>
                  <a:pt x="5934869" y="0"/>
                </a:lnTo>
                <a:lnTo>
                  <a:pt x="5934869" y="894011"/>
                </a:lnTo>
                <a:lnTo>
                  <a:pt x="76200" y="894011"/>
                </a:lnTo>
                <a:arcTo wR="76200" hR="76200" stAng="5400000" swAng="5400000"/>
                <a:lnTo>
                  <a:pt x="0" y="76200"/>
                </a:lnTo>
                <a:arcTo wR="76200" hR="76200" stAng="10800000" swAng="5400000"/>
                <a:close/>
              </a:path>
            </a:pathLst>
          </a:custGeom>
          <a:solidFill>
            <a:srgbClr val="50565C"/>
          </a:solidFill>
          <a:ln/>
        </p:spPr>
      </p:sp>
      <p:sp>
        <p:nvSpPr>
          <p:cNvPr id="5" name="Text 3"/>
          <p:cNvSpPr/>
          <p:nvPr/>
        </p:nvSpPr>
        <p:spPr>
          <a:xfrm>
            <a:off x="990600" y="1993850"/>
            <a:ext cx="5746647"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3F1"/>
                </a:solidFill>
                <a:latin typeface="Arial" pitchFamily="34" charset="0"/>
                <a:ea typeface="Arial" pitchFamily="34" charset="-122"/>
                <a:cs typeface="Arial" pitchFamily="34" charset="-120"/>
              </a:rPr>
              <a:t>Train · years 1–5</a:t>
            </a:r>
            <a:endParaRPr lang="en-US" sz="1400" dirty="0"/>
          </a:p>
        </p:txBody>
      </p:sp>
      <p:sp>
        <p:nvSpPr>
          <p:cNvPr id="6" name="Text 4"/>
          <p:cNvSpPr/>
          <p:nvPr/>
        </p:nvSpPr>
        <p:spPr>
          <a:xfrm>
            <a:off x="990600" y="2293541"/>
            <a:ext cx="574664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5E6"/>
                </a:solidFill>
                <a:latin typeface="Arial" pitchFamily="34" charset="0"/>
                <a:ea typeface="Arial" pitchFamily="34" charset="-122"/>
                <a:cs typeface="Arial" pitchFamily="34" charset="-120"/>
              </a:rPr>
              <a:t>53,308 rows</a:t>
            </a:r>
            <a:endParaRPr lang="en-US" sz="1200" dirty="0"/>
          </a:p>
        </p:txBody>
      </p:sp>
      <p:sp>
        <p:nvSpPr>
          <p:cNvPr id="7" name="Shape 5"/>
          <p:cNvSpPr/>
          <p:nvPr/>
        </p:nvSpPr>
        <p:spPr>
          <a:xfrm>
            <a:off x="6747669" y="1816050"/>
            <a:ext cx="2671514" cy="894011"/>
          </a:xfrm>
          <a:prstGeom prst="rect">
            <a:avLst/>
          </a:prstGeom>
          <a:solidFill>
            <a:srgbClr val="1D2125"/>
          </a:solidFill>
          <a:ln/>
        </p:spPr>
      </p:sp>
      <p:sp>
        <p:nvSpPr>
          <p:cNvPr id="8" name="Text 6"/>
          <p:cNvSpPr/>
          <p:nvPr/>
        </p:nvSpPr>
        <p:spPr>
          <a:xfrm>
            <a:off x="6925469" y="1993850"/>
            <a:ext cx="2385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3F1"/>
                </a:solidFill>
                <a:latin typeface="Arial" pitchFamily="34" charset="0"/>
                <a:ea typeface="Arial" pitchFamily="34" charset="-122"/>
                <a:cs typeface="Arial" pitchFamily="34" charset="-120"/>
              </a:rPr>
              <a:t>Validate · year 6</a:t>
            </a:r>
            <a:endParaRPr lang="en-US" sz="1400" dirty="0"/>
          </a:p>
        </p:txBody>
      </p:sp>
      <p:sp>
        <p:nvSpPr>
          <p:cNvPr id="9" name="Text 7"/>
          <p:cNvSpPr/>
          <p:nvPr/>
        </p:nvSpPr>
        <p:spPr>
          <a:xfrm>
            <a:off x="6925469" y="2293541"/>
            <a:ext cx="2385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4E5E6"/>
                </a:solidFill>
                <a:latin typeface="Arial" pitchFamily="34" charset="0"/>
                <a:ea typeface="Arial" pitchFamily="34" charset="-122"/>
                <a:cs typeface="Arial" pitchFamily="34" charset="-120"/>
              </a:rPr>
              <a:t>22,449 rows</a:t>
            </a:r>
            <a:endParaRPr lang="en-US" sz="1200" dirty="0"/>
          </a:p>
        </p:txBody>
      </p:sp>
      <p:sp>
        <p:nvSpPr>
          <p:cNvPr id="10" name="Shape 8"/>
          <p:cNvSpPr/>
          <p:nvPr/>
        </p:nvSpPr>
        <p:spPr>
          <a:xfrm>
            <a:off x="9425533" y="1822400"/>
            <a:ext cx="1947317" cy="881311"/>
          </a:xfrm>
          <a:custGeom>
            <a:avLst/>
            <a:gdLst/>
            <a:ahLst/>
            <a:cxnLst/>
            <a:rect l="l" t="t" r="r" b="b"/>
            <a:pathLst>
              <a:path w="1947317" h="881311">
                <a:moveTo>
                  <a:pt x="0" y="0"/>
                </a:moveTo>
                <a:lnTo>
                  <a:pt x="1877467" y="0"/>
                </a:lnTo>
                <a:arcTo wR="69850" hR="69850" stAng="16200000" swAng="5400000"/>
                <a:lnTo>
                  <a:pt x="1947317" y="811461"/>
                </a:lnTo>
                <a:arcTo wR="69850" hR="69850" stAng="0" swAng="5400000"/>
                <a:lnTo>
                  <a:pt x="0" y="881311"/>
                </a:lnTo>
                <a:lnTo>
                  <a:pt x="0" y="0"/>
                </a:lnTo>
                <a:close/>
              </a:path>
            </a:pathLst>
          </a:custGeom>
          <a:solidFill>
            <a:srgbClr val="FAFAF8"/>
          </a:solidFill>
          <a:ln w="12700">
            <a:solidFill>
              <a:srgbClr val="1D2125"/>
            </a:solidFill>
            <a:prstDash val="dash"/>
          </a:ln>
        </p:spPr>
      </p:sp>
      <p:sp>
        <p:nvSpPr>
          <p:cNvPr id="11" name="Text 9"/>
          <p:cNvSpPr/>
          <p:nvPr/>
        </p:nvSpPr>
        <p:spPr>
          <a:xfrm>
            <a:off x="9609683" y="2006550"/>
            <a:ext cx="1629817"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D2125"/>
                </a:solidFill>
                <a:latin typeface="Arial" pitchFamily="34" charset="0"/>
                <a:ea typeface="Arial" pitchFamily="34" charset="-122"/>
                <a:cs typeface="Arial" pitchFamily="34" charset="-120"/>
              </a:rPr>
              <a:t>Test · year 7</a:t>
            </a:r>
            <a:endParaRPr lang="en-US" sz="1400" dirty="0"/>
          </a:p>
        </p:txBody>
      </p:sp>
      <p:sp>
        <p:nvSpPr>
          <p:cNvPr id="12" name="Text 10"/>
          <p:cNvSpPr/>
          <p:nvPr/>
        </p:nvSpPr>
        <p:spPr>
          <a:xfrm>
            <a:off x="9609683" y="2306241"/>
            <a:ext cx="162981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258"/>
                </a:solidFill>
                <a:latin typeface="Arial" pitchFamily="34" charset="0"/>
                <a:ea typeface="Arial" pitchFamily="34" charset="-122"/>
                <a:cs typeface="Arial" pitchFamily="34" charset="-120"/>
              </a:rPr>
              <a:t>9,705 rows</a:t>
            </a:r>
            <a:endParaRPr lang="en-US" sz="1200" dirty="0"/>
          </a:p>
        </p:txBody>
      </p:sp>
      <p:sp>
        <p:nvSpPr>
          <p:cNvPr id="13" name="Shape 11"/>
          <p:cNvSpPr/>
          <p:nvPr/>
        </p:nvSpPr>
        <p:spPr>
          <a:xfrm>
            <a:off x="815975" y="3018036"/>
            <a:ext cx="5175250" cy="1281361"/>
          </a:xfrm>
          <a:prstGeom prst="roundRect">
            <a:avLst>
              <a:gd name="adj" fmla="val 5699"/>
            </a:avLst>
          </a:prstGeom>
          <a:solidFill>
            <a:srgbClr val="FAFAF8"/>
          </a:solidFill>
          <a:ln w="6350">
            <a:solidFill>
              <a:srgbClr val="D4D6D8"/>
            </a:solidFill>
            <a:prstDash val="solid"/>
          </a:ln>
        </p:spPr>
      </p:sp>
      <p:sp>
        <p:nvSpPr>
          <p:cNvPr id="14" name="Text 12"/>
          <p:cNvSpPr/>
          <p:nvPr/>
        </p:nvSpPr>
        <p:spPr>
          <a:xfrm>
            <a:off x="1047750" y="3249811"/>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125"/>
                </a:solidFill>
                <a:latin typeface="Arial" pitchFamily="34" charset="0"/>
                <a:ea typeface="Arial" pitchFamily="34" charset="-122"/>
                <a:cs typeface="Arial" pitchFamily="34" charset="-120"/>
              </a:rPr>
              <a:t>Test-like subset</a:t>
            </a:r>
            <a:endParaRPr lang="en-US" sz="1600" dirty="0"/>
          </a:p>
        </p:txBody>
      </p:sp>
      <p:sp>
        <p:nvSpPr>
          <p:cNvPr id="15" name="Text 13"/>
          <p:cNvSpPr/>
          <p:nvPr/>
        </p:nvSpPr>
        <p:spPr>
          <a:xfrm>
            <a:off x="1047750" y="3569841"/>
            <a:ext cx="485305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Year 6 without State 6: </a:t>
            </a:r>
            <a:r>
              <a:rPr lang="en-US" sz="1400" b="1" dirty="0">
                <a:solidFill>
                  <a:srgbClr val="4B5258"/>
                </a:solidFill>
                <a:latin typeface="Arial" pitchFamily="34" charset="0"/>
                <a:ea typeface="Arial" pitchFamily="34" charset="-122"/>
                <a:cs typeface="Arial" pitchFamily="34" charset="-120"/>
              </a:rPr>
              <a:t>9,432 rows</a:t>
            </a:r>
            <a:r>
              <a:rPr lang="en-US" sz="1400" dirty="0">
                <a:solidFill>
                  <a:srgbClr val="4B5258"/>
                </a:solidFill>
                <a:latin typeface="Arial" pitchFamily="34" charset="0"/>
                <a:ea typeface="Arial" pitchFamily="34" charset="-122"/>
                <a:cs typeface="Arial" pitchFamily="34" charset="-120"/>
              </a:rPr>
              <a:t>. Every model decision uses this score.</a:t>
            </a:r>
            <a:endParaRPr lang="en-US" sz="1400" dirty="0"/>
          </a:p>
        </p:txBody>
      </p:sp>
      <p:sp>
        <p:nvSpPr>
          <p:cNvPr id="16" name="Shape 14"/>
          <p:cNvSpPr/>
          <p:nvPr/>
        </p:nvSpPr>
        <p:spPr>
          <a:xfrm>
            <a:off x="6200775" y="3018036"/>
            <a:ext cx="5175250" cy="1281361"/>
          </a:xfrm>
          <a:prstGeom prst="roundRect">
            <a:avLst>
              <a:gd name="adj" fmla="val 5699"/>
            </a:avLst>
          </a:prstGeom>
          <a:solidFill>
            <a:srgbClr val="FAFAF8"/>
          </a:solidFill>
          <a:ln w="6350">
            <a:solidFill>
              <a:srgbClr val="D4D6D8"/>
            </a:solidFill>
            <a:prstDash val="solid"/>
          </a:ln>
        </p:spPr>
      </p:sp>
      <p:sp>
        <p:nvSpPr>
          <p:cNvPr id="17" name="Text 15"/>
          <p:cNvSpPr/>
          <p:nvPr/>
        </p:nvSpPr>
        <p:spPr>
          <a:xfrm>
            <a:off x="6432550" y="3249811"/>
            <a:ext cx="485305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D2125"/>
                </a:solidFill>
                <a:latin typeface="Arial" pitchFamily="34" charset="0"/>
                <a:ea typeface="Arial" pitchFamily="34" charset="-122"/>
                <a:cs typeface="Arial" pitchFamily="34" charset="-120"/>
              </a:rPr>
              <a:t>Why it matters</a:t>
            </a:r>
            <a:endParaRPr lang="en-US" sz="1600" dirty="0"/>
          </a:p>
        </p:txBody>
      </p:sp>
      <p:sp>
        <p:nvSpPr>
          <p:cNvPr id="18" name="Text 16"/>
          <p:cNvSpPr/>
          <p:nvPr/>
        </p:nvSpPr>
        <p:spPr>
          <a:xfrm>
            <a:off x="6432550" y="3569841"/>
            <a:ext cx="485305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First random forest: </a:t>
            </a:r>
            <a:r>
              <a:rPr lang="en-US" sz="1400" b="1" dirty="0">
                <a:solidFill>
                  <a:srgbClr val="4B5258"/>
                </a:solidFill>
                <a:latin typeface="Arial" pitchFamily="34" charset="0"/>
                <a:ea typeface="Arial" pitchFamily="34" charset="-122"/>
                <a:cs typeface="Arial" pitchFamily="34" charset="-120"/>
              </a:rPr>
              <a:t>42.8</a:t>
            </a:r>
            <a:r>
              <a:rPr lang="en-US" sz="1400" dirty="0">
                <a:solidFill>
                  <a:srgbClr val="4B5258"/>
                </a:solidFill>
                <a:latin typeface="Arial" pitchFamily="34" charset="0"/>
                <a:ea typeface="Arial" pitchFamily="34" charset="-122"/>
                <a:cs typeface="Arial" pitchFamily="34" charset="-120"/>
              </a:rPr>
              <a:t> on all of year 6 vs </a:t>
            </a:r>
            <a:r>
              <a:rPr lang="en-US" sz="1400" b="1" dirty="0">
                <a:solidFill>
                  <a:srgbClr val="4B5258"/>
                </a:solidFill>
                <a:latin typeface="Arial" pitchFamily="34" charset="0"/>
                <a:ea typeface="Arial" pitchFamily="34" charset="-122"/>
                <a:cs typeface="Arial" pitchFamily="34" charset="-120"/>
              </a:rPr>
              <a:t>47.0</a:t>
            </a:r>
            <a:r>
              <a:rPr lang="en-US" sz="1400" dirty="0">
                <a:solidFill>
                  <a:srgbClr val="4B5258"/>
                </a:solidFill>
                <a:latin typeface="Arial" pitchFamily="34" charset="0"/>
                <a:ea typeface="Arial" pitchFamily="34" charset="-122"/>
                <a:cs typeface="Arial" pitchFamily="34" charset="-120"/>
              </a:rPr>
              <a:t> test-like, a 4.2 point gap.</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After model selection, the final model is retrained on all six years · Cleaning and validation · 9 /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3 · FEATURES</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The final models use 66 predictors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10553700" cy="2746375"/>
        </p:xfrm>
        <a:graphic>
          <a:graphicData uri="http://schemas.openxmlformats.org/drawingml/2006/table">
            <a:tbl>
              <a:tblPr/>
              <a:tblGrid>
                <a:gridCol w="3166110">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6332220">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Group</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820"/>
                        </a:lnSpc>
                        <a:buNone/>
                      </a:pPr>
                      <a:r>
                        <a:rPr lang="en-US" sz="1300" b="1" dirty="0">
                          <a:solidFill>
                            <a:srgbClr val="1D2125"/>
                          </a:solidFill>
                          <a:latin typeface="Arial" pitchFamily="34" charset="0"/>
                          <a:ea typeface="Arial" pitchFamily="34" charset="-122"/>
                          <a:cs typeface="Arial" pitchFamily="34" charset="-120"/>
                        </a:rPr>
                        <a:t>Count</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Columns</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Building and location</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7</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State, class, facility type, floor area, year built, Energy Star rating, elevation</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Monthly temperatures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36</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Min, average and max for each month</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59045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Annual weather</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14</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Degree days, precipitation, snow, average temperature, days above or below thresholds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Engineered</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energy_star_missing, log_floor_area, winter, summer and range temperatures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Building history</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lag_last, lag_mean, lag_count, lag_gap</a:t>
                      </a:r>
                      <a:endParaRPr lang="en-US" sz="1300" dirty="0">
                        <a:latin typeface="Arial" charset="0"/>
                        <a:ea typeface="Arial" charset="0"/>
                        <a:cs typeface="Arial" charset="0"/>
                      </a:endParaRPr>
                    </a:p>
                  </a:txBody>
                  <a:tcPr marL="57785" marR="57785" marT="57785" marB="57785">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66</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Excluded: id, site_eui, Year_Factor, 4 wind and fog columns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Source: predictorNames in preparedData.mat · Feature engineering · 10 / 20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212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B4B9BE"/>
                </a:solidFill>
                <a:latin typeface="Arial" pitchFamily="34" charset="0"/>
                <a:ea typeface="Arial" pitchFamily="34" charset="-122"/>
                <a:cs typeface="Arial" pitchFamily="34" charset="-120"/>
              </a:rPr>
              <a:t>3 · KEY INSIGHT</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EDEDEB"/>
                </a:solidFill>
                <a:latin typeface="Arial" pitchFamily="34" charset="0"/>
                <a:ea typeface="Arial" pitchFamily="34" charset="-122"/>
                <a:cs typeface="Arial" pitchFamily="34" charset="-120"/>
              </a:rPr>
              <a:t>The same buildings reappear every year</a:t>
            </a:r>
            <a:endParaRPr lang="en-US" sz="2800" dirty="0"/>
          </a:p>
        </p:txBody>
      </p:sp>
      <p:sp>
        <p:nvSpPr>
          <p:cNvPr id="4" name="Text 2"/>
          <p:cNvSpPr/>
          <p:nvPr/>
        </p:nvSpPr>
        <p:spPr>
          <a:xfrm>
            <a:off x="812800" y="1816050"/>
            <a:ext cx="68021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B9BE"/>
                </a:solidFill>
                <a:latin typeface="Arial" pitchFamily="34" charset="0"/>
                <a:ea typeface="Arial" pitchFamily="34" charset="-122"/>
                <a:cs typeface="Arial" pitchFamily="34" charset="-120"/>
              </a:rPr>
              <a:t>There is no building ID, but five attributes never change for a building:</a:t>
            </a:r>
            <a:endParaRPr lang="en-US" sz="1500" dirty="0"/>
          </a:p>
        </p:txBody>
      </p:sp>
      <p:sp>
        <p:nvSpPr>
          <p:cNvPr id="5" name="Text 3"/>
          <p:cNvSpPr/>
          <p:nvPr/>
        </p:nvSpPr>
        <p:spPr>
          <a:xfrm>
            <a:off x="812800" y="2235150"/>
            <a:ext cx="68021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DEDEB"/>
                </a:solidFill>
                <a:latin typeface="Arial" pitchFamily="34" charset="0"/>
                <a:ea typeface="Arial" pitchFamily="34" charset="-122"/>
                <a:cs typeface="Arial" pitchFamily="34" charset="-120"/>
              </a:rPr>
              <a:t>State · building class · facility type · floor area · year built</a:t>
            </a:r>
            <a:endParaRPr lang="en-US" sz="1500" dirty="0"/>
          </a:p>
        </p:txBody>
      </p:sp>
      <p:sp>
        <p:nvSpPr>
          <p:cNvPr id="6" name="Text 4"/>
          <p:cNvSpPr/>
          <p:nvPr/>
        </p:nvSpPr>
        <p:spPr>
          <a:xfrm>
            <a:off x="812800" y="2654250"/>
            <a:ext cx="680212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4B9BE"/>
                </a:solidFill>
                <a:latin typeface="Arial" pitchFamily="34" charset="0"/>
                <a:ea typeface="Arial" pitchFamily="34" charset="-122"/>
                <a:cs typeface="Arial" pitchFamily="34" charset="-120"/>
              </a:rPr>
              <a:t>Matching on this key gives each row the building’s Site EUI from </a:t>
            </a:r>
            <a:r>
              <a:rPr lang="en-US" sz="1500" b="1" dirty="0">
                <a:solidFill>
                  <a:srgbClr val="B4B9BE"/>
                </a:solidFill>
                <a:latin typeface="Arial" pitchFamily="34" charset="0"/>
                <a:ea typeface="Arial" pitchFamily="34" charset="-122"/>
                <a:cs typeface="Arial" pitchFamily="34" charset="-120"/>
              </a:rPr>
              <a:t>strictly earlier</a:t>
            </a:r>
            <a:r>
              <a:rPr lang="en-US" sz="1500" dirty="0">
                <a:solidFill>
                  <a:srgbClr val="B4B9BE"/>
                </a:solidFill>
                <a:latin typeface="Arial" pitchFamily="34" charset="0"/>
                <a:ea typeface="Arial" pitchFamily="34" charset="-122"/>
                <a:cs typeface="Arial" pitchFamily="34" charset="-120"/>
              </a:rPr>
              <a:t> years only.</a:t>
            </a:r>
            <a:endParaRPr lang="en-US" sz="1500" dirty="0"/>
          </a:p>
        </p:txBody>
      </p:sp>
      <p:sp>
        <p:nvSpPr>
          <p:cNvPr id="7" name="Shape 5"/>
          <p:cNvSpPr/>
          <p:nvPr/>
        </p:nvSpPr>
        <p:spPr>
          <a:xfrm>
            <a:off x="7823200" y="1816050"/>
            <a:ext cx="3556000" cy="1818580"/>
          </a:xfrm>
          <a:prstGeom prst="roundRect">
            <a:avLst>
              <a:gd name="adj" fmla="val 4190"/>
            </a:avLst>
          </a:prstGeom>
          <a:solidFill>
            <a:srgbClr val="2A2F34"/>
          </a:solidFill>
          <a:ln/>
        </p:spPr>
      </p:sp>
      <p:sp>
        <p:nvSpPr>
          <p:cNvPr id="8" name="Text 6"/>
          <p:cNvSpPr/>
          <p:nvPr/>
        </p:nvSpPr>
        <p:spPr>
          <a:xfrm>
            <a:off x="8077200" y="2070050"/>
            <a:ext cx="313944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DEDEB"/>
                </a:solidFill>
                <a:latin typeface="Arial" pitchFamily="34" charset="0"/>
                <a:ea typeface="Arial" pitchFamily="34" charset="-122"/>
                <a:cs typeface="Arial" pitchFamily="34" charset="-120"/>
              </a:rPr>
              <a:t>93.4%</a:t>
            </a:r>
            <a:endParaRPr lang="en-US" sz="6000" dirty="0"/>
          </a:p>
        </p:txBody>
      </p:sp>
      <p:sp>
        <p:nvSpPr>
          <p:cNvPr id="9" name="Text 7"/>
          <p:cNvSpPr/>
          <p:nvPr/>
        </p:nvSpPr>
        <p:spPr>
          <a:xfrm>
            <a:off x="8077200" y="2882850"/>
            <a:ext cx="313944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4B9BE"/>
                </a:solidFill>
                <a:latin typeface="Arial" pitchFamily="34" charset="0"/>
                <a:ea typeface="Arial" pitchFamily="34" charset="-122"/>
                <a:cs typeface="Arial" pitchFamily="34" charset="-120"/>
              </a:rPr>
              <a:t>of test buildings match a building seen in training</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3952131"/>
          <a:ext cx="10553700" cy="1796604"/>
        </p:xfrm>
        <a:graphic>
          <a:graphicData uri="http://schemas.openxmlformats.org/drawingml/2006/table">
            <a:tbl>
              <a:tblPr/>
              <a:tblGrid>
                <a:gridCol w="2321814">
                  <a:extLst>
                    <a:ext uri="{9D8B030D-6E8A-4147-A177-3AD203B41FA5}">
                      <a16:colId xmlns:a16="http://schemas.microsoft.com/office/drawing/2014/main" val="20000"/>
                    </a:ext>
                  </a:extLst>
                </a:gridCol>
                <a:gridCol w="8231886">
                  <a:extLst>
                    <a:ext uri="{9D8B030D-6E8A-4147-A177-3AD203B41FA5}">
                      <a16:colId xmlns:a16="http://schemas.microsoft.com/office/drawing/2014/main" val="20001"/>
                    </a:ext>
                  </a:extLst>
                </a:gridCol>
              </a:tblGrid>
              <a:tr h="359321">
                <a:tc>
                  <a:txBody>
                    <a:bodyPr/>
                    <a:lstStyle/>
                    <a:p>
                      <a:pPr marL="0" indent="0">
                        <a:lnSpc>
                          <a:spcPts val="1820"/>
                        </a:lnSpc>
                        <a:buNone/>
                      </a:pPr>
                      <a:r>
                        <a:rPr lang="en-US" sz="1300" b="1" dirty="0">
                          <a:solidFill>
                            <a:srgbClr val="EDEDEB"/>
                          </a:solidFill>
                          <a:latin typeface="Arial" pitchFamily="34" charset="0"/>
                          <a:ea typeface="Arial" pitchFamily="34" charset="-122"/>
                          <a:cs typeface="Arial" pitchFamily="34" charset="-120"/>
                        </a:rPr>
                        <a:t>Feature</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5C5E60"/>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5C5E60"/>
                      </a:solidFill>
                      <a:prstDash val="solid"/>
                      <a:round/>
                      <a:headEnd type="none" w="med" len="med"/>
                      <a:tailEnd type="none" w="med" len="med"/>
                    </a:lnB>
                    <a:solidFill>
                      <a:srgbClr val="2F3236"/>
                    </a:solidFill>
                  </a:tcPr>
                </a:tc>
                <a:tc>
                  <a:txBody>
                    <a:bodyPr/>
                    <a:lstStyle/>
                    <a:p>
                      <a:pPr marL="0" indent="0">
                        <a:lnSpc>
                          <a:spcPts val="1820"/>
                        </a:lnSpc>
                        <a:buNone/>
                      </a:pPr>
                      <a:r>
                        <a:rPr lang="en-US" sz="1300" b="1" dirty="0">
                          <a:solidFill>
                            <a:srgbClr val="EDEDEB"/>
                          </a:solidFill>
                          <a:latin typeface="Arial" pitchFamily="34" charset="0"/>
                          <a:ea typeface="Arial" pitchFamily="34" charset="-122"/>
                          <a:cs typeface="Arial" pitchFamily="34" charset="-120"/>
                        </a:rPr>
                        <a:t>Definition</a:t>
                      </a:r>
                      <a:endParaRPr lang="en-US" sz="1300" dirty="0">
                        <a:latin typeface="Arial" charset="0"/>
                        <a:ea typeface="Arial" charset="0"/>
                        <a:cs typeface="Arial" charset="0"/>
                      </a:endParaRPr>
                    </a:p>
                  </a:txBody>
                  <a:tcPr marL="57785" marR="57785" marT="57785" marB="57785">
                    <a:lnL w="12700" cap="flat" cmpd="sng" algn="ctr">
                      <a:solidFill>
                        <a:srgbClr val="5C5E60"/>
                      </a:solidFill>
                      <a:prstDash val="solid"/>
                      <a:round/>
                      <a:headEnd type="none" w="med" len="med"/>
                      <a:tailEnd type="none" w="med" len="med"/>
                    </a:lnL>
                    <a:lnR w="12700" cap="flat" cmpd="sng" algn="ctr">
                      <a:solidFill>
                        <a:srgbClr val="5C5E60"/>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5C5E60"/>
                      </a:solidFill>
                      <a:prstDash val="solid"/>
                      <a:round/>
                      <a:headEnd type="none" w="med" len="med"/>
                      <a:tailEnd type="none" w="med" len="med"/>
                    </a:lnB>
                    <a:solidFill>
                      <a:srgbClr val="2F323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lag_last</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5C5E60"/>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Site EUI in the most recent earlier year</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5C5E60"/>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lag_mean</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Average Site EUI over all earlier years</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lag_count</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Number of earlier years observed</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lag_gap</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tc>
                  <a:txBody>
                    <a:bodyPr/>
                    <a:lstStyle/>
                    <a:p>
                      <a:pPr marL="0" indent="0">
                        <a:lnSpc>
                          <a:spcPts val="1820"/>
                        </a:lnSpc>
                        <a:buNone/>
                      </a:pPr>
                      <a:r>
                        <a:rPr lang="en-US" sz="1300" dirty="0">
                          <a:solidFill>
                            <a:srgbClr val="EDEDEB"/>
                          </a:solidFill>
                          <a:latin typeface="Arial" pitchFamily="34" charset="0"/>
                          <a:ea typeface="Arial" pitchFamily="34" charset="-122"/>
                          <a:cs typeface="Arial" pitchFamily="34" charset="-120"/>
                        </a:rPr>
                        <a:t>Years since the building was last observed</a:t>
                      </a:r>
                      <a:endParaRPr lang="en-US" sz="1300" dirty="0">
                        <a:latin typeface="Arial" charset="0"/>
                        <a:ea typeface="Arial" charset="0"/>
                        <a:cs typeface="Arial" charset="0"/>
                      </a:endParaRPr>
                    </a:p>
                  </a:txBody>
                  <a:tcPr marL="57785" marR="57785" marT="57785" marB="57785">
                    <a:lnL w="12700" cap="flat" cmpd="sng" algn="ctr">
                      <a:solidFill>
                        <a:srgbClr val="4E5153"/>
                      </a:solidFill>
                      <a:prstDash val="solid"/>
                      <a:round/>
                      <a:headEnd type="none" w="med" len="med"/>
                      <a:tailEnd type="none" w="med" len="med"/>
                    </a:lnL>
                    <a:lnR w="12700" cap="flat" cmpd="sng" algn="ctr">
                      <a:solidFill>
                        <a:srgbClr val="4E5153"/>
                      </a:solidFill>
                      <a:prstDash val="solid"/>
                      <a:round/>
                      <a:headEnd type="none" w="med" len="med"/>
                      <a:tailEnd type="none" w="med" len="med"/>
                    </a:lnR>
                    <a:lnT w="12700" cap="flat" cmpd="sng" algn="ctr">
                      <a:solidFill>
                        <a:srgbClr val="4E5153"/>
                      </a:solidFill>
                      <a:prstDash val="solid"/>
                      <a:round/>
                      <a:headEnd type="none" w="med" len="med"/>
                      <a:tailEnd type="none" w="med" len="med"/>
                    </a:lnT>
                    <a:lnB w="12700" cap="flat" cmpd="sng" algn="ctr">
                      <a:solidFill>
                        <a:srgbClr val="4E515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B9BE"/>
                </a:solidFill>
                <a:latin typeface="Arial" pitchFamily="34" charset="0"/>
                <a:ea typeface="Arial" pitchFamily="34" charset="-122"/>
                <a:cs typeface="Arial" pitchFamily="34" charset="-120"/>
              </a:rPr>
              <a:t>Same core idea as the WiDS 2022 top solutions · Feature engineering · 11 /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3 · IMPLEMENTATION</a:t>
            </a:r>
            <a:endParaRPr lang="en-US" sz="1200" dirty="0"/>
          </a:p>
        </p:txBody>
      </p:sp>
      <p:sp>
        <p:nvSpPr>
          <p:cNvPr id="3" name="Text 1"/>
          <p:cNvSpPr>
            <a:spLocks noGrp="1"/>
          </p:cNvSpPr>
          <p:nvPr>
            <p:ph type="title"/>
          </p:nvPr>
        </p:nvSpPr>
        <p:spPr>
          <a:xfrm>
            <a:off x="812800" y="10007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Building history in MATLAB</a:t>
            </a:r>
            <a:endParaRPr lang="en-US" sz="2800" dirty="0"/>
          </a:p>
        </p:txBody>
      </p:sp>
      <p:sp>
        <p:nvSpPr>
          <p:cNvPr id="4" name="Text 2"/>
          <p:cNvSpPr/>
          <p:nvPr/>
        </p:nvSpPr>
        <p:spPr>
          <a:xfrm>
            <a:off x="812800" y="1612850"/>
            <a:ext cx="10566400" cy="3606205"/>
          </a:xfrm>
          <a:prstGeom prst="roundRect">
            <a:avLst>
              <a:gd name="adj" fmla="val 2113"/>
            </a:avLst>
          </a:prstGeom>
          <a:solidFill>
            <a:srgbClr val="1D2125"/>
          </a:solidFill>
          <a:ln/>
        </p:spPr>
        <p:txBody>
          <a:bodyPr wrap="square" lIns="231682" tIns="180882" rIns="0" bIns="155482" rtlCol="0" anchor="t">
            <a:normAutofit/>
          </a:bodyPr>
          <a:lstStyle/>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bld = findgroups(both.State_Factor, both.building_class, both.facility_type, ...</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both.floor_area, yearBuilt);            % rebuilt building ID</a:t>
            </a:r>
            <a:endParaRPr lang="en-US" sz="1200" dirty="0"/>
          </a:p>
          <a:p>
            <a:pPr marL="0" indent="0" algn="l">
              <a:lnSpc>
                <a:spcPts val="1680"/>
              </a:lnSpc>
              <a:buNone/>
            </a:pP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for y = unique(yr)'</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past = byYear(byYear.yr &lt; y, :);        % earlier years only</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if isempty(past), continue; end</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[pastBld, lastIdx] = unique(past.bld, "last");</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stats = groupsummary(past, "bld", "mean", "mean_eui");</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[isKnown, loc] = ismember(bld, pastBld);</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rows = yr == y &amp; isKnown;</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lagLast(rows)  = past.mean_eui(lastIdx(loc(rows)));</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lagGap(rows)   = y - past.yr(lastIdx(loc(rows)));</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lagMean(rows)  = stats.mean_mean_eui(loc(rows));</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    lagCount(rows) = stats.GroupCount(loc(rows));</a:t>
            </a:r>
            <a:endParaRPr lang="en-US" sz="1200" dirty="0"/>
          </a:p>
          <a:p>
            <a:pPr marL="0" indent="0" algn="l">
              <a:lnSpc>
                <a:spcPts val="1680"/>
              </a:lnSpc>
              <a:buNone/>
            </a:pPr>
            <a:r>
              <a:rPr lang="en-US" sz="1200" dirty="0">
                <a:solidFill>
                  <a:srgbClr val="EDEDEB"/>
                </a:solidFill>
                <a:latin typeface="Courier New" pitchFamily="49" charset="0"/>
                <a:ea typeface="Courier New" pitchFamily="49" charset="-122"/>
                <a:cs typeface="Courier New" pitchFamily="49" charset="-120"/>
              </a:rPr>
              <a:t>end</a:t>
            </a:r>
            <a:endParaRPr lang="en-US" sz="1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Excerpt: step1_prepare_data.m, addHistoryFeatures() · Feature engineering · 12 /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3 · IMPLEMENTATION</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Missing values get their own branch in tree models</a:t>
            </a:r>
            <a:endParaRPr lang="en-US" sz="2800" dirty="0"/>
          </a:p>
        </p:txBody>
      </p:sp>
      <p:sp>
        <p:nvSpPr>
          <p:cNvPr id="4" name="Text 2"/>
          <p:cNvSpPr/>
          <p:nvPr/>
        </p:nvSpPr>
        <p:spPr>
          <a:xfrm>
            <a:off x="812800" y="1765250"/>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B5258"/>
                </a:solidFill>
                <a:latin typeface="Arial" pitchFamily="34" charset="0"/>
                <a:ea typeface="Arial" pitchFamily="34" charset="-122"/>
                <a:cs typeface="Arial" pitchFamily="34" charset="-120"/>
              </a:rPr>
              <a:t>Without surrogate splits, a MATLAB regression tree stops an observation with a missing value at the split node. With about 1 in 3 Energy Star ratings missing, this blurred many predictions.</a:t>
            </a:r>
            <a:endParaRPr lang="en-US" sz="1500" dirty="0"/>
          </a:p>
        </p:txBody>
      </p:sp>
      <p:sp>
        <p:nvSpPr>
          <p:cNvPr id="5" name="Text 3"/>
          <p:cNvSpPr/>
          <p:nvPr/>
        </p:nvSpPr>
        <p:spPr>
          <a:xfrm>
            <a:off x="812800" y="2552650"/>
            <a:ext cx="10566400" cy="2081957"/>
          </a:xfrm>
          <a:prstGeom prst="roundRect">
            <a:avLst>
              <a:gd name="adj" fmla="val 3660"/>
            </a:avLst>
          </a:prstGeom>
          <a:solidFill>
            <a:srgbClr val="1D2125"/>
          </a:solidFill>
          <a:ln/>
        </p:spPr>
        <p:txBody>
          <a:bodyPr wrap="square" lIns="231682" tIns="180882" rIns="0" bIns="155482" rtlCol="0" anchor="t">
            <a:normAutofit/>
          </a:bodyPr>
          <a:lstStyle/>
          <a:p>
            <a:pPr marL="0" indent="0" algn="l">
              <a:lnSpc>
                <a:spcPts val="1885"/>
              </a:lnSpc>
              <a:buNone/>
            </a:pPr>
            <a:r>
              <a:rPr lang="en-US" sz="1300" dirty="0">
                <a:solidFill>
                  <a:srgbClr val="EDEDEB"/>
                </a:solidFill>
                <a:latin typeface="Courier New" pitchFamily="49" charset="0"/>
                <a:ea typeface="Courier New" pitchFamily="49" charset="-122"/>
                <a:cs typeface="Courier New" pitchFamily="49" charset="-120"/>
              </a:rPr>
              <a:t>function X = fillSentinel(X)</a:t>
            </a:r>
            <a:endParaRPr lang="en-US" sz="1300" dirty="0"/>
          </a:p>
          <a:p>
            <a:pPr marL="0" indent="0" algn="l">
              <a:lnSpc>
                <a:spcPts val="1885"/>
              </a:lnSpc>
              <a:buNone/>
            </a:pPr>
            <a:r>
              <a:rPr lang="en-US" sz="1300" dirty="0">
                <a:solidFill>
                  <a:srgbClr val="EDEDEB"/>
                </a:solidFill>
                <a:latin typeface="Courier New" pitchFamily="49" charset="0"/>
                <a:ea typeface="Courier New" pitchFamily="49" charset="-122"/>
                <a:cs typeface="Courier New" pitchFamily="49" charset="-120"/>
              </a:rPr>
              <a:t>% Replace NaN in numeric predictors with an out-of-range value for tree models.</a:t>
            </a:r>
            <a:endParaRPr lang="en-US" sz="1300" dirty="0"/>
          </a:p>
          <a:p>
            <a:pPr marL="0" indent="0" algn="l">
              <a:lnSpc>
                <a:spcPts val="1885"/>
              </a:lnSpc>
              <a:buNone/>
            </a:pPr>
            <a:r>
              <a:rPr lang="en-US" sz="1300" dirty="0">
                <a:solidFill>
                  <a:srgbClr val="EDEDEB"/>
                </a:solidFill>
                <a:latin typeface="Courier New" pitchFamily="49" charset="0"/>
                <a:ea typeface="Courier New" pitchFamily="49" charset="-122"/>
                <a:cs typeface="Courier New" pitchFamily="49" charset="-120"/>
              </a:rPr>
              <a:t>    isNum = varfun(@isnumeric, X, "OutputFormat", "uniform");</a:t>
            </a:r>
            <a:endParaRPr lang="en-US" sz="1300" dirty="0"/>
          </a:p>
          <a:p>
            <a:pPr marL="0" indent="0" algn="l">
              <a:lnSpc>
                <a:spcPts val="1885"/>
              </a:lnSpc>
              <a:buNone/>
            </a:pPr>
            <a:r>
              <a:rPr lang="en-US" sz="1300" dirty="0">
                <a:solidFill>
                  <a:srgbClr val="EDEDEB"/>
                </a:solidFill>
                <a:latin typeface="Courier New" pitchFamily="49" charset="0"/>
                <a:ea typeface="Courier New" pitchFamily="49" charset="-122"/>
                <a:cs typeface="Courier New" pitchFamily="49" charset="-120"/>
              </a:rPr>
              <a:t>    for v = string(X.Properties.VariableNames(isNum))</a:t>
            </a:r>
            <a:endParaRPr lang="en-US" sz="1300" dirty="0"/>
          </a:p>
          <a:p>
            <a:pPr marL="0" indent="0" algn="l">
              <a:lnSpc>
                <a:spcPts val="1885"/>
              </a:lnSpc>
              <a:buNone/>
            </a:pPr>
            <a:r>
              <a:rPr lang="en-US" sz="1300" dirty="0">
                <a:solidFill>
                  <a:srgbClr val="EDEDEB"/>
                </a:solidFill>
                <a:latin typeface="Courier New" pitchFamily="49" charset="0"/>
                <a:ea typeface="Courier New" pitchFamily="49" charset="-122"/>
                <a:cs typeface="Courier New" pitchFamily="49" charset="-120"/>
              </a:rPr>
              <a:t>        X.(v) = fillmissing(X.(v), "constant", -999);</a:t>
            </a:r>
            <a:endParaRPr lang="en-US" sz="1300" dirty="0"/>
          </a:p>
          <a:p>
            <a:pPr marL="0" indent="0" algn="l">
              <a:lnSpc>
                <a:spcPts val="1885"/>
              </a:lnSpc>
              <a:buNone/>
            </a:pPr>
            <a:r>
              <a:rPr lang="en-US" sz="1300" dirty="0">
                <a:solidFill>
                  <a:srgbClr val="EDEDEB"/>
                </a:solidFill>
                <a:latin typeface="Courier New" pitchFamily="49" charset="0"/>
                <a:ea typeface="Courier New" pitchFamily="49" charset="-122"/>
                <a:cs typeface="Courier New" pitchFamily="49" charset="-120"/>
              </a:rPr>
              <a:t>    end</a:t>
            </a:r>
            <a:endParaRPr lang="en-US" sz="1300" dirty="0"/>
          </a:p>
          <a:p>
            <a:pPr marL="0" indent="0" algn="l">
              <a:lnSpc>
                <a:spcPts val="1885"/>
              </a:lnSpc>
              <a:buNone/>
            </a:pPr>
            <a:r>
              <a:rPr lang="en-US" sz="1300" dirty="0">
                <a:solidFill>
                  <a:srgbClr val="EDEDEB"/>
                </a:solidFill>
                <a:latin typeface="Courier New" pitchFamily="49" charset="0"/>
                <a:ea typeface="Courier New" pitchFamily="49" charset="-122"/>
                <a:cs typeface="Courier New" pitchFamily="49" charset="-120"/>
              </a:rPr>
              <a:t>end</a:t>
            </a:r>
            <a:endParaRPr lang="en-US" sz="1300" dirty="0"/>
          </a:p>
        </p:txBody>
      </p:sp>
      <p:sp>
        <p:nvSpPr>
          <p:cNvPr id="6" name="Text 4"/>
          <p:cNvSpPr/>
          <p:nvPr/>
        </p:nvSpPr>
        <p:spPr>
          <a:xfrm>
            <a:off x="812800" y="4888607"/>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Applied to tree models only. Linear regression uses training-median imputation.</a:t>
            </a:r>
            <a:endParaRPr lang="en-US" sz="14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Code: fillSentinel.m · Feature engineering · 13 / 20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4 · MODELS</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All candidates are Regression Learner models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10553700" cy="2874566"/>
        </p:xfrm>
        <a:graphic>
          <a:graphicData uri="http://schemas.openxmlformats.org/drawingml/2006/table">
            <a:tbl>
              <a:tblPr/>
              <a:tblGrid>
                <a:gridCol w="2955036">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4432554">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Regression Learner model</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MATLAB function</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Settings</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Mean (baseline)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Predicts the training average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Linear Regression</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fitlm</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Median imputation for gaps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Fine / Medium Tree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fitrtree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Min leaf size 4 / 12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Bagged Trees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fitrensemble, Bag</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100 trees, leaf 5, 1/3 of predictors per split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Boosted Trees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fitrensemble, LSBoost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Rate 0.1, 63 splits, leaf 20, 300 trees, 70% of predictors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Boosted Trees, tuned</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fitrensemble, LSBoost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4-setting grid; tree count picked on validation</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Neural Network</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fitrnet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1 hidden layer of 10, standardised inputs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Code: step2_train_models.m, compare_app_models.m · Models and results · 14 /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4 · RESULTS, ITERATION 1</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Without building history, the best test-like RMSE was 46.84</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10553700" cy="3088084"/>
        </p:xfrm>
        <a:graphic>
          <a:graphicData uri="http://schemas.openxmlformats.org/drawingml/2006/table">
            <a:tbl>
              <a:tblPr/>
              <a:tblGrid>
                <a:gridCol w="5487924">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2532888">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D2125"/>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RMSE, all of year 6</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RMSE, test-like</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Mean (baseline)</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57.21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64.88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Linear Regression</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50.54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54.26</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Boosted Trees, log target</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45.30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49.94</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Boosted Trees</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44.68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48.82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Boosted Trees, tuned</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44.68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48.51</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Bagged Trees</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42.83</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47.02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1D2125"/>
                          </a:solidFill>
                          <a:latin typeface="Arial" pitchFamily="34" charset="0"/>
                          <a:ea typeface="Arial" pitchFamily="34" charset="-122"/>
                          <a:cs typeface="Arial" pitchFamily="34" charset="-120"/>
                        </a:rPr>
                        <a:t>Average of Bagged and Boosted</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42.95</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46.84</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5221635"/>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62 predictors, no history features, missing values left as NaN. The log target did not help.</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Validation: train years 1–5, score year 6 · Models and results · 15 /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4 · RESULTS, ITERATION 2</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History features cut test-like error by about 45%</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77950"/>
          <a:ext cx="10553700" cy="3593207"/>
        </p:xfrm>
        <a:graphic>
          <a:graphicData uri="http://schemas.openxmlformats.org/drawingml/2006/table">
            <a:tbl>
              <a:tblPr/>
              <a:tblGrid>
                <a:gridCol w="4221480">
                  <a:extLst>
                    <a:ext uri="{9D8B030D-6E8A-4147-A177-3AD203B41FA5}">
                      <a16:colId xmlns:a16="http://schemas.microsoft.com/office/drawing/2014/main" val="20000"/>
                    </a:ext>
                  </a:extLst>
                </a:gridCol>
                <a:gridCol w="1583055">
                  <a:extLst>
                    <a:ext uri="{9D8B030D-6E8A-4147-A177-3AD203B41FA5}">
                      <a16:colId xmlns:a16="http://schemas.microsoft.com/office/drawing/2014/main" val="20001"/>
                    </a:ext>
                  </a:extLst>
                </a:gridCol>
                <a:gridCol w="1583055">
                  <a:extLst>
                    <a:ext uri="{9D8B030D-6E8A-4147-A177-3AD203B41FA5}">
                      <a16:colId xmlns:a16="http://schemas.microsoft.com/office/drawing/2014/main" val="20002"/>
                    </a:ext>
                  </a:extLst>
                </a:gridCol>
                <a:gridCol w="1583055">
                  <a:extLst>
                    <a:ext uri="{9D8B030D-6E8A-4147-A177-3AD203B41FA5}">
                      <a16:colId xmlns:a16="http://schemas.microsoft.com/office/drawing/2014/main" val="20003"/>
                    </a:ext>
                  </a:extLst>
                </a:gridCol>
                <a:gridCol w="1583055">
                  <a:extLst>
                    <a:ext uri="{9D8B030D-6E8A-4147-A177-3AD203B41FA5}">
                      <a16:colId xmlns:a16="http://schemas.microsoft.com/office/drawing/2014/main" val="20004"/>
                    </a:ext>
                  </a:extLst>
                </a:gridCol>
              </a:tblGrid>
              <a:tr h="359321">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820"/>
                        </a:lnSpc>
                        <a:buNone/>
                      </a:pPr>
                      <a:r>
                        <a:rPr lang="en-US" sz="1300" b="1" dirty="0">
                          <a:solidFill>
                            <a:srgbClr val="1D2125"/>
                          </a:solidFill>
                          <a:latin typeface="Arial" pitchFamily="34" charset="0"/>
                          <a:ea typeface="Arial" pitchFamily="34" charset="-122"/>
                          <a:cs typeface="Arial" pitchFamily="34" charset="-120"/>
                        </a:rPr>
                        <a:t>All of year 6</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820"/>
                        </a:lnSpc>
                        <a:buNone/>
                      </a:pPr>
                      <a:r>
                        <a:rPr lang="en-US" sz="1300" b="1" dirty="0">
                          <a:solidFill>
                            <a:srgbClr val="1D2125"/>
                          </a:solidFill>
                          <a:latin typeface="Arial" pitchFamily="34" charset="0"/>
                          <a:ea typeface="Arial" pitchFamily="34" charset="-122"/>
                          <a:cs typeface="Arial" pitchFamily="34" charset="-120"/>
                        </a:rPr>
                        <a:t>Test-like</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820"/>
                        </a:lnSpc>
                        <a:buNone/>
                      </a:pPr>
                      <a:r>
                        <a:rPr lang="en-US" sz="1300" b="1" dirty="0">
                          <a:solidFill>
                            <a:srgbClr val="1D2125"/>
                          </a:solidFill>
                          <a:latin typeface="Arial" pitchFamily="34" charset="0"/>
                          <a:ea typeface="Arial" pitchFamily="34" charset="-122"/>
                          <a:cs typeface="Arial" pitchFamily="34" charset="-120"/>
                        </a:rPr>
                        <a:t>Iteration 1</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820"/>
                        </a:lnSpc>
                        <a:buNone/>
                      </a:pPr>
                      <a:r>
                        <a:rPr lang="en-US" sz="1300" b="1" dirty="0">
                          <a:solidFill>
                            <a:srgbClr val="1D2125"/>
                          </a:solidFill>
                          <a:latin typeface="Arial" pitchFamily="34" charset="0"/>
                          <a:ea typeface="Arial" pitchFamily="34" charset="-122"/>
                          <a:cs typeface="Arial" pitchFamily="34" charset="-120"/>
                        </a:rPr>
                        <a:t>Change</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Mean (baseline)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57.21</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64.88</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64.88</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Neural Network</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47.80</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50.60</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Linear Regression</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36.10</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35.83</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54.26</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−34%</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Fine Tree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37.65</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31.01</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Medium Tree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36.72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28.79</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Boosted Trees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36.92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27.15</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48.82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−44%</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Bagged Trees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31.42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26.35</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47.02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−44%</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7"/>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Boosted Trees, tuned</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33.60</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26.35</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48.51</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−46%</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8"/>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Average of Bagged and Boosted (final)</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31.92</a:t>
                      </a:r>
                      <a:endParaRPr lang="en-US" sz="1300" dirty="0">
                        <a:latin typeface="Arial" charset="0"/>
                        <a:ea typeface="Arial" charset="0"/>
                        <a:cs typeface="Arial" charset="0"/>
                      </a:endParaRPr>
                    </a:p>
                  </a:txBody>
                  <a:tcPr marL="57785" marR="57785" marT="57785" marB="57785">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25.99</a:t>
                      </a:r>
                      <a:endParaRPr lang="en-US" sz="1300" dirty="0">
                        <a:latin typeface="Arial" charset="0"/>
                        <a:ea typeface="Arial" charset="0"/>
                        <a:cs typeface="Arial" charset="0"/>
                      </a:endParaRPr>
                    </a:p>
                  </a:txBody>
                  <a:tcPr marL="57785" marR="57785" marT="57785" marB="57785">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46.84</a:t>
                      </a:r>
                      <a:endParaRPr lang="en-US" sz="1300" dirty="0">
                        <a:latin typeface="Arial" charset="0"/>
                        <a:ea typeface="Arial" charset="0"/>
                        <a:cs typeface="Arial" charset="0"/>
                      </a:endParaRPr>
                    </a:p>
                  </a:txBody>
                  <a:tcPr marL="57785" marR="57785" marT="57785" marB="57785">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−45%</a:t>
                      </a:r>
                      <a:endParaRPr lang="en-US" sz="1300" dirty="0">
                        <a:latin typeface="Arial" charset="0"/>
                        <a:ea typeface="Arial" charset="0"/>
                        <a:cs typeface="Arial" charset="0"/>
                      </a:endParaRPr>
                    </a:p>
                  </a:txBody>
                  <a:tcPr marL="57785" marR="57785" marT="57785" marB="57785">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extLst>
                  <a:ext uri="{0D108BD9-81ED-4DB2-BD59-A6C34878D82A}">
                    <a16:rowId xmlns:a16="http://schemas.microsoft.com/office/drawing/2014/main" val="10009"/>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66 predictors with history features and missing-value fix · Models and results · 16 /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4 · TUNING</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With history, boosting peaks after about 40 trees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6337300" cy="1930053"/>
        </p:xfrm>
        <a:graphic>
          <a:graphicData uri="http://schemas.openxmlformats.org/drawingml/2006/table">
            <a:tbl>
              <a:tblPr/>
              <a:tblGrid>
                <a:gridCol w="1584325">
                  <a:extLst>
                    <a:ext uri="{9D8B030D-6E8A-4147-A177-3AD203B41FA5}">
                      <a16:colId xmlns:a16="http://schemas.microsoft.com/office/drawing/2014/main" val="20000"/>
                    </a:ext>
                  </a:extLst>
                </a:gridCol>
                <a:gridCol w="1584325">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1584325">
                  <a:extLst>
                    <a:ext uri="{9D8B030D-6E8A-4147-A177-3AD203B41FA5}">
                      <a16:colId xmlns:a16="http://schemas.microsoft.com/office/drawing/2014/main" val="20003"/>
                    </a:ext>
                  </a:extLst>
                </a:gridCol>
              </a:tblGrid>
              <a:tr h="386011">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Max splits</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Min leaf</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Best trees</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960"/>
                        </a:lnSpc>
                        <a:buNone/>
                      </a:pPr>
                      <a:r>
                        <a:rPr lang="en-US" sz="1400" b="1" dirty="0">
                          <a:solidFill>
                            <a:srgbClr val="1D2125"/>
                          </a:solidFill>
                          <a:latin typeface="Arial" pitchFamily="34" charset="0"/>
                          <a:ea typeface="Arial" pitchFamily="34" charset="-122"/>
                          <a:cs typeface="Arial" pitchFamily="34" charset="-120"/>
                        </a:rPr>
                        <a:t>Test-like RMSE</a:t>
                      </a:r>
                      <a:endParaRPr lang="en-US" sz="1400" dirty="0">
                        <a:latin typeface="Arial" charset="0"/>
                        <a:ea typeface="Arial" charset="0"/>
                        <a:cs typeface="Arial" charset="0"/>
                      </a:endParaRPr>
                    </a:p>
                  </a:txBody>
                  <a:tcPr marL="62230" marR="62230" marT="62230" marB="62230">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86011">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127</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38</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26.16</a:t>
                      </a:r>
                      <a:endParaRPr lang="en-US" sz="1400" dirty="0">
                        <a:latin typeface="Arial" charset="0"/>
                        <a:ea typeface="Arial" charset="0"/>
                        <a:cs typeface="Arial" charset="0"/>
                      </a:endParaRPr>
                    </a:p>
                  </a:txBody>
                  <a:tcPr marL="62230" marR="62230" marT="62230" marB="62230">
                    <a:lnL w="12700" cap="flat" cmpd="sng" algn="ctr">
                      <a:solidFill>
                        <a:srgbClr val="B6B7B8"/>
                      </a:solidFill>
                      <a:prstDash val="solid"/>
                      <a:round/>
                      <a:headEnd type="none" w="med" len="med"/>
                      <a:tailEnd type="none" w="med" len="med"/>
                    </a:lnL>
                    <a:lnR w="12700" cap="flat" cmpd="sng" algn="ctr">
                      <a:solidFill>
                        <a:srgbClr val="B6B7B8"/>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B6B7B8"/>
                      </a:solidFill>
                      <a:prstDash val="solid"/>
                      <a:round/>
                      <a:headEnd type="none" w="med" len="med"/>
                      <a:tailEnd type="none" w="med" len="med"/>
                    </a:lnB>
                    <a:solidFill>
                      <a:srgbClr val="E4E5E6"/>
                    </a:solidFill>
                  </a:tcPr>
                </a:tc>
                <a:extLst>
                  <a:ext uri="{0D108BD9-81ED-4DB2-BD59-A6C34878D82A}">
                    <a16:rowId xmlns:a16="http://schemas.microsoft.com/office/drawing/2014/main" val="10001"/>
                  </a:ext>
                </a:extLst>
              </a:tr>
              <a:tr h="386011">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127</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30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42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26.17</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6B7B8"/>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255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32</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26.25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255</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30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38</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960"/>
                        </a:lnSpc>
                        <a:buNone/>
                      </a:pPr>
                      <a:r>
                        <a:rPr lang="en-US" sz="1400" dirty="0">
                          <a:solidFill>
                            <a:srgbClr val="1D2125"/>
                          </a:solidFill>
                          <a:latin typeface="Arial" pitchFamily="34" charset="0"/>
                          <a:ea typeface="Arial" pitchFamily="34" charset="-122"/>
                          <a:cs typeface="Arial" pitchFamily="34" charset="-120"/>
                        </a:rPr>
                        <a:t>26.30</a:t>
                      </a:r>
                      <a:endParaRPr lang="en-US" sz="1400" dirty="0">
                        <a:latin typeface="Arial" charset="0"/>
                        <a:ea typeface="Arial" charset="0"/>
                        <a:cs typeface="Arial" charset="0"/>
                      </a:endParaRPr>
                    </a:p>
                  </a:txBody>
                  <a:tcPr marL="62230" marR="62230" marT="62230" marB="62230">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7569200" y="1816050"/>
            <a:ext cx="392430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Learning rate 0.1 throughout; up to 500 trees, best count read from the validation curve.</a:t>
            </a:r>
            <a:endParaRPr lang="en-US" sz="1400" dirty="0"/>
          </a:p>
        </p:txBody>
      </p:sp>
      <p:sp>
        <p:nvSpPr>
          <p:cNvPr id="6" name="Text 3"/>
          <p:cNvSpPr/>
          <p:nvPr/>
        </p:nvSpPr>
        <p:spPr>
          <a:xfrm>
            <a:off x="7569200" y="2466231"/>
            <a:ext cx="39243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Iteration 1 needed </a:t>
            </a:r>
            <a:r>
              <a:rPr lang="en-US" sz="1400" b="1" dirty="0">
                <a:solidFill>
                  <a:srgbClr val="4B5258"/>
                </a:solidFill>
                <a:latin typeface="Arial" pitchFamily="34" charset="0"/>
                <a:ea typeface="Arial" pitchFamily="34" charset="-122"/>
                <a:cs typeface="Arial" pitchFamily="34" charset="-120"/>
              </a:rPr>
              <a:t>496</a:t>
            </a:r>
            <a:r>
              <a:rPr lang="en-US" sz="1400" dirty="0">
                <a:solidFill>
                  <a:srgbClr val="4B5258"/>
                </a:solidFill>
                <a:latin typeface="Arial" pitchFamily="34" charset="0"/>
                <a:ea typeface="Arial" pitchFamily="34" charset="-122"/>
                <a:cs typeface="Arial" pitchFamily="34" charset="-120"/>
              </a:rPr>
              <a:t> trees to reach 48.51.</a:t>
            </a:r>
            <a:endParaRPr lang="en-US" sz="1400" dirty="0"/>
          </a:p>
        </p:txBody>
      </p:sp>
      <p:sp>
        <p:nvSpPr>
          <p:cNvPr id="7" name="Text 4"/>
          <p:cNvSpPr/>
          <p:nvPr/>
        </p:nvSpPr>
        <p:spPr>
          <a:xfrm>
            <a:off x="7569200" y="2867521"/>
            <a:ext cx="392430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All four settings land within </a:t>
            </a:r>
            <a:r>
              <a:rPr lang="en-US" sz="1400" b="1" dirty="0">
                <a:solidFill>
                  <a:srgbClr val="4B5258"/>
                </a:solidFill>
                <a:latin typeface="Arial" pitchFamily="34" charset="0"/>
                <a:ea typeface="Arial" pitchFamily="34" charset="-122"/>
                <a:cs typeface="Arial" pitchFamily="34" charset="-120"/>
              </a:rPr>
              <a:t>0.14</a:t>
            </a:r>
            <a:r>
              <a:rPr lang="en-US" sz="1400" dirty="0">
                <a:solidFill>
                  <a:srgbClr val="4B5258"/>
                </a:solidFill>
                <a:latin typeface="Arial" pitchFamily="34" charset="0"/>
                <a:ea typeface="Arial" pitchFamily="34" charset="-122"/>
                <a:cs typeface="Arial" pitchFamily="34" charset="-120"/>
              </a:rPr>
              <a:t> of each other: the model is not sensitive to these choices.</a:t>
            </a:r>
            <a:endParaRPr lang="en-US" sz="14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Code: step2_train_models.m, tuning grid · Models and results · 17 / 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4 · INTERPRETATION</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A building’s history and type drive the prediction</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5067300" cy="3233886"/>
        </p:xfrm>
        <a:graphic>
          <a:graphicData uri="http://schemas.openxmlformats.org/drawingml/2006/table">
            <a:tbl>
              <a:tblPr/>
              <a:tblGrid>
                <a:gridCol w="3547110">
                  <a:extLst>
                    <a:ext uri="{9D8B030D-6E8A-4147-A177-3AD203B41FA5}">
                      <a16:colId xmlns:a16="http://schemas.microsoft.com/office/drawing/2014/main" val="20000"/>
                    </a:ext>
                  </a:extLst>
                </a:gridCol>
                <a:gridCol w="1520190">
                  <a:extLst>
                    <a:ext uri="{9D8B030D-6E8A-4147-A177-3AD203B41FA5}">
                      <a16:colId xmlns:a16="http://schemas.microsoft.com/office/drawing/2014/main" val="20001"/>
                    </a:ext>
                  </a:extLst>
                </a:gridCol>
              </a:tblGrid>
              <a:tr h="359321">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Boosted Trees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820"/>
                        </a:lnSpc>
                        <a:buNone/>
                      </a:pPr>
                      <a:r>
                        <a:rPr lang="en-US" sz="1300" b="1" dirty="0">
                          <a:solidFill>
                            <a:srgbClr val="1D2125"/>
                          </a:solidFill>
                          <a:latin typeface="Arial" pitchFamily="34" charset="0"/>
                          <a:ea typeface="Arial" pitchFamily="34" charset="-122"/>
                          <a:cs typeface="Arial" pitchFamily="34" charset="-120"/>
                        </a:rPr>
                        <a:t>Importance</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lag_last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facility_type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19%</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lag_mean</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16%</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energy_star_rating</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lag_gap</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lag_count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floor_area</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7"/>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year_built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311900" y="1828750"/>
          <a:ext cx="5067300" cy="3233886"/>
        </p:xfrm>
        <a:graphic>
          <a:graphicData uri="http://schemas.openxmlformats.org/drawingml/2006/table">
            <a:tbl>
              <a:tblPr/>
              <a:tblGrid>
                <a:gridCol w="3547110">
                  <a:extLst>
                    <a:ext uri="{9D8B030D-6E8A-4147-A177-3AD203B41FA5}">
                      <a16:colId xmlns:a16="http://schemas.microsoft.com/office/drawing/2014/main" val="20000"/>
                    </a:ext>
                  </a:extLst>
                </a:gridCol>
                <a:gridCol w="1520190">
                  <a:extLst>
                    <a:ext uri="{9D8B030D-6E8A-4147-A177-3AD203B41FA5}">
                      <a16:colId xmlns:a16="http://schemas.microsoft.com/office/drawing/2014/main" val="20001"/>
                    </a:ext>
                  </a:extLst>
                </a:gridCol>
              </a:tblGrid>
              <a:tr h="359321">
                <a:tc>
                  <a:txBody>
                    <a:bodyPr/>
                    <a:lstStyle/>
                    <a:p>
                      <a:pPr marL="0" indent="0">
                        <a:lnSpc>
                          <a:spcPts val="1820"/>
                        </a:lnSpc>
                        <a:buNone/>
                      </a:pPr>
                      <a:r>
                        <a:rPr lang="en-US" sz="1300" b="1" dirty="0">
                          <a:solidFill>
                            <a:srgbClr val="1D2125"/>
                          </a:solidFill>
                          <a:latin typeface="Arial" pitchFamily="34" charset="0"/>
                          <a:ea typeface="Arial" pitchFamily="34" charset="-122"/>
                          <a:cs typeface="Arial" pitchFamily="34" charset="-120"/>
                        </a:rPr>
                        <a:t>Bagged Trees</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gn="r">
                        <a:lnSpc>
                          <a:spcPts val="1820"/>
                        </a:lnSpc>
                        <a:buNone/>
                      </a:pPr>
                      <a:r>
                        <a:rPr lang="en-US" sz="1300" b="1" dirty="0">
                          <a:solidFill>
                            <a:srgbClr val="1D2125"/>
                          </a:solidFill>
                          <a:latin typeface="Arial" pitchFamily="34" charset="0"/>
                          <a:ea typeface="Arial" pitchFamily="34" charset="-122"/>
                          <a:cs typeface="Arial" pitchFamily="34" charset="-120"/>
                        </a:rPr>
                        <a:t>Importance</a:t>
                      </a:r>
                      <a:endParaRPr lang="en-US" sz="1300" dirty="0">
                        <a:latin typeface="Arial" charset="0"/>
                        <a:ea typeface="Arial" charset="0"/>
                        <a:cs typeface="Arial" charset="0"/>
                      </a:endParaRPr>
                    </a:p>
                  </a:txBody>
                  <a:tcPr marL="57785" marR="57785" marT="57785" marB="57785">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lag_last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27%</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lag_mean</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21%</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facility_type</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18%</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energy_star_rating</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10%</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log_floor_area</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floor_area</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year_built</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7"/>
                  </a:ext>
                </a:extLst>
              </a:tr>
              <a:tr h="359321">
                <a:tc>
                  <a:txBody>
                    <a:bodyPr/>
                    <a:lstStyle/>
                    <a:p>
                      <a:pPr marL="0" indent="0">
                        <a:lnSpc>
                          <a:spcPts val="1820"/>
                        </a:lnSpc>
                        <a:buNone/>
                      </a:pPr>
                      <a:r>
                        <a:rPr lang="en-US" sz="1300" dirty="0">
                          <a:solidFill>
                            <a:srgbClr val="1D2125"/>
                          </a:solidFill>
                          <a:latin typeface="Arial" pitchFamily="34" charset="0"/>
                          <a:ea typeface="Arial" pitchFamily="34" charset="-122"/>
                          <a:cs typeface="Arial" pitchFamily="34" charset="-120"/>
                        </a:rPr>
                        <a:t>lag_gap</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gn="r">
                        <a:lnSpc>
                          <a:spcPts val="1820"/>
                        </a:lnSpc>
                        <a:buNone/>
                      </a:pPr>
                      <a:r>
                        <a:rPr lang="en-US" sz="1300" dirty="0">
                          <a:solidFill>
                            <a:srgbClr val="1D2125"/>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Text 2"/>
          <p:cNvSpPr/>
          <p:nvPr/>
        </p:nvSpPr>
        <p:spPr>
          <a:xfrm>
            <a:off x="812800" y="5367437"/>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B5258"/>
                </a:solidFill>
                <a:latin typeface="Arial" pitchFamily="34" charset="0"/>
                <a:ea typeface="Arial" pitchFamily="34" charset="-122"/>
                <a:cs typeface="Arial" pitchFamily="34" charset="-120"/>
              </a:rPr>
              <a:t>History features account for </a:t>
            </a:r>
            <a:r>
              <a:rPr lang="en-US" sz="1400" b="1" dirty="0">
                <a:solidFill>
                  <a:srgbClr val="4B5258"/>
                </a:solidFill>
                <a:latin typeface="Arial" pitchFamily="34" charset="0"/>
                <a:ea typeface="Arial" pitchFamily="34" charset="-122"/>
                <a:cs typeface="Arial" pitchFamily="34" charset="-120"/>
              </a:rPr>
              <a:t>62%</a:t>
            </a:r>
            <a:r>
              <a:rPr lang="en-US" sz="1400" dirty="0">
                <a:solidFill>
                  <a:srgbClr val="4B5258"/>
                </a:solidFill>
                <a:latin typeface="Arial" pitchFamily="34" charset="0"/>
                <a:ea typeface="Arial" pitchFamily="34" charset="-122"/>
                <a:cs typeface="Arial" pitchFamily="34" charset="-120"/>
              </a:rPr>
              <a:t> (boosted) and </a:t>
            </a:r>
            <a:r>
              <a:rPr lang="en-US" sz="1400" b="1" dirty="0">
                <a:solidFill>
                  <a:srgbClr val="4B5258"/>
                </a:solidFill>
                <a:latin typeface="Arial" pitchFamily="34" charset="0"/>
                <a:ea typeface="Arial" pitchFamily="34" charset="-122"/>
                <a:cs typeface="Arial" pitchFamily="34" charset="-120"/>
              </a:rPr>
              <a:t>49%</a:t>
            </a:r>
            <a:r>
              <a:rPr lang="en-US" sz="1400" dirty="0">
                <a:solidFill>
                  <a:srgbClr val="4B5258"/>
                </a:solidFill>
                <a:latin typeface="Arial" pitchFamily="34" charset="0"/>
                <a:ea typeface="Arial" pitchFamily="34" charset="-122"/>
                <a:cs typeface="Arial" pitchFamily="34" charset="-120"/>
              </a:rPr>
              <a:t> (bagged) of importance. No weather variable makes either top 8.</a:t>
            </a:r>
            <a:endParaRPr lang="en-US" sz="1400" dirty="0"/>
          </a:p>
        </p:txBody>
      </p:sp>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predictorImportance on final models retrained on years 1–6 · Models and results · 18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3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6B7177"/>
                </a:solidFill>
                <a:latin typeface="Arial" pitchFamily="34" charset="0"/>
                <a:ea typeface="Arial" pitchFamily="34" charset="-122"/>
                <a:cs typeface="Arial" pitchFamily="34" charset="-120"/>
              </a:rPr>
              <a:t>5 · SUBMISSION</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D2125"/>
                </a:solidFill>
                <a:latin typeface="Arial" pitchFamily="34" charset="0"/>
                <a:ea typeface="Arial" pitchFamily="34" charset="-122"/>
                <a:cs typeface="Arial" pitchFamily="34" charset="-120"/>
              </a:rPr>
              <a:t>The final submission and how to reproduce it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28750"/>
          <a:ext cx="6210300" cy="2848670"/>
        </p:xfrm>
        <a:graphic>
          <a:graphicData uri="http://schemas.openxmlformats.org/drawingml/2006/table">
            <a:tbl>
              <a:tblPr/>
              <a:tblGrid>
                <a:gridCol w="3415665">
                  <a:extLst>
                    <a:ext uri="{9D8B030D-6E8A-4147-A177-3AD203B41FA5}">
                      <a16:colId xmlns:a16="http://schemas.microsoft.com/office/drawing/2014/main" val="20000"/>
                    </a:ext>
                  </a:extLst>
                </a:gridCol>
                <a:gridCol w="2794635">
                  <a:extLst>
                    <a:ext uri="{9D8B030D-6E8A-4147-A177-3AD203B41FA5}">
                      <a16:colId xmlns:a16="http://schemas.microsoft.com/office/drawing/2014/main" val="20001"/>
                    </a:ext>
                  </a:extLst>
                </a:gridCol>
              </a:tblGrid>
              <a:tr h="372666">
                <a:tc>
                  <a:txBody>
                    <a:bodyPr/>
                    <a:lstStyle/>
                    <a:p>
                      <a:pPr marL="0" indent="0">
                        <a:lnSpc>
                          <a:spcPts val="1890"/>
                        </a:lnSpc>
                        <a:buNone/>
                      </a:pPr>
                      <a:r>
                        <a:rPr lang="en-US" sz="1350" b="1" dirty="0">
                          <a:solidFill>
                            <a:srgbClr val="1D2125"/>
                          </a:solidFill>
                          <a:latin typeface="Arial" pitchFamily="34" charset="0"/>
                          <a:ea typeface="Arial" pitchFamily="34" charset="-122"/>
                          <a:cs typeface="Arial" pitchFamily="34" charset="-120"/>
                        </a:rPr>
                        <a:t>Item</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tc>
                  <a:txBody>
                    <a:bodyPr/>
                    <a:lstStyle/>
                    <a:p>
                      <a:pPr marL="0" indent="0">
                        <a:lnSpc>
                          <a:spcPts val="1890"/>
                        </a:lnSpc>
                        <a:buNone/>
                      </a:pPr>
                      <a:r>
                        <a:rPr lang="en-US" sz="1350" b="1" dirty="0">
                          <a:solidFill>
                            <a:srgbClr val="1D2125"/>
                          </a:solidFill>
                          <a:latin typeface="Arial" pitchFamily="34" charset="0"/>
                          <a:ea typeface="Arial" pitchFamily="34" charset="-122"/>
                          <a:cs typeface="Arial" pitchFamily="34" charset="-120"/>
                        </a:rPr>
                        <a:t>Value</a:t>
                      </a:r>
                      <a:endParaRPr lang="en-US" sz="1350" dirty="0">
                        <a:latin typeface="Arial" charset="0"/>
                        <a:ea typeface="Arial" charset="0"/>
                        <a:cs typeface="Arial" charset="0"/>
                      </a:endParaRPr>
                    </a:p>
                  </a:txBody>
                  <a:tcPr marL="60007" marR="60007" marT="60007" marB="60007">
                    <a:lnL w="12700" cap="flat" cmpd="sng" algn="ctr">
                      <a:solidFill>
                        <a:srgbClr val="B4B4B2"/>
                      </a:solidFill>
                      <a:prstDash val="solid"/>
                      <a:round/>
                      <a:headEnd type="none" w="med" len="med"/>
                      <a:tailEnd type="none" w="med" len="med"/>
                    </a:lnL>
                    <a:lnR w="12700" cap="flat" cmpd="sng" algn="ctr">
                      <a:solidFill>
                        <a:srgbClr val="B4B4B2"/>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B4B4B2"/>
                      </a:solidFill>
                      <a:prstDash val="solid"/>
                      <a:round/>
                      <a:headEnd type="none" w="med" len="med"/>
                      <a:tailEnd type="none" w="med" len="med"/>
                    </a:lnB>
                    <a:solidFill>
                      <a:srgbClr val="E1E1DF"/>
                    </a:solidFill>
                  </a:tcPr>
                </a:tc>
                <a:extLst>
                  <a:ext uri="{0D108BD9-81ED-4DB2-BD59-A6C34878D82A}">
                    <a16:rowId xmlns:a16="http://schemas.microsoft.com/office/drawing/2014/main" val="10000"/>
                  </a:ext>
                </a:extLst>
              </a:tr>
              <a:tr h="61267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Final model</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Average of Bagged and tuned Boosted Trees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B4B4B2"/>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1"/>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Training data</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All 75,757 rows, years 1–6</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2"/>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Predictions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9,705, ids match sample file</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3"/>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Prediction mean / median</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72.4 / 61.2</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4"/>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Invalid values</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0 (asserted in code)</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5"/>
                  </a:ext>
                </a:extLst>
              </a:tr>
              <a:tr h="372666">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Test-like validation RMSE</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tc>
                  <a:txBody>
                    <a:bodyPr/>
                    <a:lstStyle/>
                    <a:p>
                      <a:pPr marL="0" indent="0">
                        <a:lnSpc>
                          <a:spcPts val="1890"/>
                        </a:lnSpc>
                        <a:buNone/>
                      </a:pPr>
                      <a:r>
                        <a:rPr lang="en-US" sz="1350" dirty="0">
                          <a:solidFill>
                            <a:srgbClr val="1D2125"/>
                          </a:solidFill>
                          <a:latin typeface="Arial" pitchFamily="34" charset="0"/>
                          <a:ea typeface="Arial" pitchFamily="34" charset="-122"/>
                          <a:cs typeface="Arial" pitchFamily="34" charset="-120"/>
                        </a:rPr>
                        <a:t>25.99</a:t>
                      </a:r>
                      <a:endParaRPr lang="en-US" sz="1350" dirty="0">
                        <a:latin typeface="Arial" charset="0"/>
                        <a:ea typeface="Arial" charset="0"/>
                        <a:cs typeface="Arial" charset="0"/>
                      </a:endParaRPr>
                    </a:p>
                  </a:txBody>
                  <a:tcPr marL="60007" marR="60007" marT="60007" marB="60007">
                    <a:lnL w="12700" cap="flat" cmpd="sng" algn="ctr">
                      <a:solidFill>
                        <a:srgbClr val="C2C2C0"/>
                      </a:solidFill>
                      <a:prstDash val="solid"/>
                      <a:round/>
                      <a:headEnd type="none" w="med" len="med"/>
                      <a:tailEnd type="none" w="med" len="med"/>
                    </a:lnL>
                    <a:lnR w="12700" cap="flat" cmpd="sng" algn="ctr">
                      <a:solidFill>
                        <a:srgbClr val="C2C2C0"/>
                      </a:solidFill>
                      <a:prstDash val="solid"/>
                      <a:round/>
                      <a:headEnd type="none" w="med" len="med"/>
                      <a:tailEnd type="none" w="med" len="med"/>
                    </a:lnR>
                    <a:lnT w="12700" cap="flat" cmpd="sng" algn="ctr">
                      <a:solidFill>
                        <a:srgbClr val="C2C2C0"/>
                      </a:solidFill>
                      <a:prstDash val="solid"/>
                      <a:round/>
                      <a:headEnd type="none" w="med" len="med"/>
                      <a:tailEnd type="none" w="med" len="med"/>
                    </a:lnT>
                    <a:lnB w="12700" cap="flat" cmpd="sng" algn="ctr">
                      <a:solidFill>
                        <a:srgbClr val="C2C2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7442200" y="1816050"/>
            <a:ext cx="3937000" cy="1397000"/>
          </a:xfrm>
          <a:prstGeom prst="roundRect">
            <a:avLst>
              <a:gd name="adj" fmla="val 5455"/>
            </a:avLst>
          </a:prstGeom>
          <a:solidFill>
            <a:srgbClr val="1D2125"/>
          </a:solidFill>
          <a:ln/>
        </p:spPr>
        <p:txBody>
          <a:bodyPr wrap="square" lIns="180882" tIns="180882" rIns="74964" bIns="155482" rtlCol="0" anchor="t">
            <a:normAutofit/>
          </a:bodyPr>
          <a:lstStyle/>
          <a:p>
            <a:pPr marL="0" indent="0" algn="l">
              <a:lnSpc>
                <a:spcPts val="1950"/>
              </a:lnSpc>
              <a:buNone/>
            </a:pPr>
            <a:r>
              <a:rPr lang="en-US" sz="1300" dirty="0">
                <a:solidFill>
                  <a:srgbClr val="EDEDEB"/>
                </a:solidFill>
                <a:latin typeface="Courier New" pitchFamily="49" charset="0"/>
                <a:ea typeface="Courier New" pitchFamily="49" charset="-122"/>
                <a:cs typeface="Courier New" pitchFamily="49" charset="-120"/>
              </a:rPr>
              <a:t>&gt;&gt; runAll</a:t>
            </a:r>
            <a:endParaRPr lang="en-US" sz="1300" dirty="0"/>
          </a:p>
          <a:p>
            <a:pPr marL="0" indent="0" algn="l">
              <a:lnSpc>
                <a:spcPts val="1950"/>
              </a:lnSpc>
              <a:buNone/>
            </a:pPr>
            <a:r>
              <a:rPr lang="en-US" sz="1300" dirty="0">
                <a:solidFill>
                  <a:srgbClr val="EDEDEB"/>
                </a:solidFill>
                <a:latin typeface="Courier New" pitchFamily="49" charset="0"/>
                <a:ea typeface="Courier New" pitchFamily="49" charset="-122"/>
                <a:cs typeface="Courier New" pitchFamily="49" charset="-120"/>
              </a:rPr>
              <a:t>step1_prepare_data</a:t>
            </a:r>
            <a:endParaRPr lang="en-US" sz="1300" dirty="0"/>
          </a:p>
          <a:p>
            <a:pPr marL="0" indent="0" algn="l">
              <a:lnSpc>
                <a:spcPts val="1950"/>
              </a:lnSpc>
              <a:buNone/>
            </a:pPr>
            <a:r>
              <a:rPr lang="en-US" sz="1300" dirty="0">
                <a:solidFill>
                  <a:srgbClr val="EDEDEB"/>
                </a:solidFill>
                <a:latin typeface="Courier New" pitchFamily="49" charset="0"/>
                <a:ea typeface="Courier New" pitchFamily="49" charset="-122"/>
                <a:cs typeface="Courier New" pitchFamily="49" charset="-120"/>
              </a:rPr>
              <a:t>step2_train_models</a:t>
            </a:r>
            <a:endParaRPr lang="en-US" sz="1300" dirty="0"/>
          </a:p>
          <a:p>
            <a:pPr marL="0" indent="0" algn="l">
              <a:lnSpc>
                <a:spcPts val="1950"/>
              </a:lnSpc>
              <a:buNone/>
            </a:pPr>
            <a:r>
              <a:rPr lang="en-US" sz="1300" dirty="0">
                <a:solidFill>
                  <a:srgbClr val="EDEDEB"/>
                </a:solidFill>
                <a:latin typeface="Courier New" pitchFamily="49" charset="0"/>
                <a:ea typeface="Courier New" pitchFamily="49" charset="-122"/>
                <a:cs typeface="Courier New" pitchFamily="49" charset="-120"/>
              </a:rPr>
              <a:t>step3_make_submission</a:t>
            </a:r>
            <a:endParaRPr lang="en-US" sz="1300" dirty="0"/>
          </a:p>
        </p:txBody>
      </p:sp>
      <p:sp>
        <p:nvSpPr>
          <p:cNvPr id="6" name="Text 3"/>
          <p:cNvSpPr/>
          <p:nvPr/>
        </p:nvSpPr>
        <p:spPr>
          <a:xfrm>
            <a:off x="7442200" y="3340050"/>
            <a:ext cx="4055110" cy="4876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258"/>
                </a:solidFill>
                <a:latin typeface="Arial" pitchFamily="34" charset="0"/>
                <a:ea typeface="Arial" pitchFamily="34" charset="-122"/>
                <a:cs typeface="Arial" pitchFamily="34" charset="-120"/>
              </a:rPr>
              <a:t>Fixed seeds with rng(0). Runs end to end in about 15–25 minutes.</a:t>
            </a:r>
            <a:endParaRPr lang="en-US" sz="13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177"/>
                </a:solidFill>
                <a:latin typeface="Arial" pitchFamily="34" charset="0"/>
                <a:ea typeface="Arial" pitchFamily="34" charset="-122"/>
                <a:cs typeface="Arial" pitchFamily="34" charset="-120"/>
              </a:rPr>
              <a:t>github.com/dgmtriet/Hackathon2026 · branch lam_workings · Submission and conclusions · 19 /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D2125"/>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B4B9BE"/>
                </a:solidFill>
                <a:latin typeface="Arial" pitchFamily="34" charset="0"/>
                <a:ea typeface="Arial" pitchFamily="34" charset="-122"/>
                <a:cs typeface="Arial" pitchFamily="34" charset="-120"/>
              </a:rPr>
              <a:t>5 · CONCLUSIONS</a:t>
            </a:r>
            <a:endParaRPr lang="en-US" sz="1200" dirty="0"/>
          </a:p>
        </p:txBody>
      </p:sp>
      <p:sp>
        <p:nvSpPr>
          <p:cNvPr id="3" name="Text 1"/>
          <p:cNvSpPr>
            <a:spLocks noGrp="1"/>
          </p:cNvSpPr>
          <p:nvPr>
            <p:ph type="title"/>
          </p:nvPr>
        </p:nvSpPr>
        <p:spPr>
          <a:xfrm>
            <a:off x="812800" y="110232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EDEDEB"/>
                </a:solidFill>
                <a:latin typeface="Arial" pitchFamily="34" charset="0"/>
                <a:ea typeface="Arial" pitchFamily="34" charset="-122"/>
                <a:cs typeface="Arial" pitchFamily="34" charset="-120"/>
              </a:rPr>
              <a:t>From 64.88 to 25.99 RMSE, a 60% reduction</a:t>
            </a:r>
            <a:endParaRPr lang="en-US" sz="2800" dirty="0"/>
          </a:p>
        </p:txBody>
      </p:sp>
      <p:sp>
        <p:nvSpPr>
          <p:cNvPr id="4" name="Text 2"/>
          <p:cNvSpPr/>
          <p:nvPr/>
        </p:nvSpPr>
        <p:spPr>
          <a:xfrm>
            <a:off x="812800" y="1816050"/>
            <a:ext cx="5284724"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B9BE"/>
                </a:solidFill>
                <a:latin typeface="Arial" pitchFamily="34" charset="0"/>
                <a:ea typeface="Arial" pitchFamily="34" charset="-122"/>
                <a:cs typeface="Arial" pitchFamily="34" charset="-120"/>
              </a:rPr>
              <a:t>WHAT WE LEARNED</a:t>
            </a:r>
            <a:endParaRPr lang="en-US" sz="1200" dirty="0"/>
          </a:p>
        </p:txBody>
      </p:sp>
      <p:sp>
        <p:nvSpPr>
          <p:cNvPr id="5" name="Text 3"/>
          <p:cNvSpPr/>
          <p:nvPr/>
        </p:nvSpPr>
        <p:spPr>
          <a:xfrm>
            <a:off x="869057" y="2156371"/>
            <a:ext cx="5220847" cy="1056481"/>
          </a:xfrm>
          <a:prstGeom prst="rect">
            <a:avLst/>
          </a:prstGeom>
          <a:noFill/>
          <a:ln/>
        </p:spPr>
        <p:txBody>
          <a:bodyPr wrap="square" lIns="0" tIns="0" rIns="0" bIns="0" rtlCol="0" anchor="t">
            <a:normAutofit/>
          </a:bodyPr>
          <a:lstStyle/>
          <a:p>
            <a:pPr marL="197743" indent="-197743" algn="l">
              <a:lnSpc>
                <a:spcPts val="2030"/>
              </a:lnSpc>
              <a:buSzPct val="100000"/>
              <a:buFontTx/>
              <a:buAutoNum type="arabicPeriod"/>
            </a:pPr>
            <a:r>
              <a:rPr lang="en-US" sz="1400" dirty="0">
                <a:solidFill>
                  <a:srgbClr val="EDEDEB"/>
                </a:solidFill>
                <a:latin typeface="Arial" pitchFamily="34" charset="0"/>
                <a:ea typeface="Arial" pitchFamily="34" charset="-122"/>
                <a:cs typeface="Arial" pitchFamily="34" charset="-120"/>
              </a:rPr>
              <a:t>Audit how the test set differs before choosing a split</a:t>
            </a:r>
            <a:endParaRPr lang="en-US" sz="1400" dirty="0"/>
          </a:p>
          <a:p>
            <a:pPr marL="197743" indent="-197743" algn="l">
              <a:lnSpc>
                <a:spcPts val="2030"/>
              </a:lnSpc>
              <a:buSzPct val="100000"/>
              <a:buFontTx/>
              <a:buAutoNum type="arabicPeriod"/>
            </a:pPr>
            <a:r>
              <a:rPr lang="en-US" sz="1400" dirty="0">
                <a:solidFill>
                  <a:srgbClr val="EDEDEB"/>
                </a:solidFill>
                <a:latin typeface="Arial" pitchFamily="34" charset="0"/>
                <a:ea typeface="Arial" pitchFamily="34" charset="-122"/>
                <a:cs typeface="Arial" pitchFamily="34" charset="-120"/>
              </a:rPr>
              <a:t>Domain insight beat model choice: history cut error by 45%</a:t>
            </a:r>
            <a:endParaRPr lang="en-US" sz="1400" dirty="0"/>
          </a:p>
          <a:p>
            <a:pPr marL="197743" indent="-197743" algn="l">
              <a:lnSpc>
                <a:spcPts val="2030"/>
              </a:lnSpc>
              <a:buSzPct val="100000"/>
              <a:buFontTx/>
              <a:buAutoNum type="arabicPeriod"/>
            </a:pPr>
            <a:r>
              <a:rPr lang="en-US" sz="1400" dirty="0">
                <a:solidFill>
                  <a:srgbClr val="EDEDEB"/>
                </a:solidFill>
                <a:latin typeface="Arial" pitchFamily="34" charset="0"/>
                <a:ea typeface="Arial" pitchFamily="34" charset="-122"/>
                <a:cs typeface="Arial" pitchFamily="34" charset="-120"/>
              </a:rPr>
              <a:t>Know how your tools treat missing values</a:t>
            </a:r>
            <a:endParaRPr lang="en-US" sz="1400" dirty="0"/>
          </a:p>
          <a:p>
            <a:pPr marL="197743" indent="-197743" algn="l">
              <a:lnSpc>
                <a:spcPts val="2030"/>
              </a:lnSpc>
              <a:buSzPct val="100000"/>
              <a:buFontTx/>
              <a:buAutoNum type="arabicPeriod"/>
            </a:pPr>
            <a:r>
              <a:rPr lang="en-US" sz="1400" dirty="0">
                <a:solidFill>
                  <a:srgbClr val="EDEDEB"/>
                </a:solidFill>
                <a:latin typeface="Arial" pitchFamily="34" charset="0"/>
                <a:ea typeface="Arial" pitchFamily="34" charset="-122"/>
                <a:cs typeface="Arial" pitchFamily="34" charset="-120"/>
              </a:rPr>
              <a:t>Standard Regression Learner models were enough</a:t>
            </a:r>
            <a:endParaRPr lang="en-US" sz="1400" dirty="0"/>
          </a:p>
        </p:txBody>
      </p:sp>
      <p:sp>
        <p:nvSpPr>
          <p:cNvPr id="6" name="Text 4"/>
          <p:cNvSpPr/>
          <p:nvPr/>
        </p:nvSpPr>
        <p:spPr>
          <a:xfrm>
            <a:off x="6248400" y="1816050"/>
            <a:ext cx="5284724"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4B9BE"/>
                </a:solidFill>
                <a:latin typeface="Arial" pitchFamily="34" charset="0"/>
                <a:ea typeface="Arial" pitchFamily="34" charset="-122"/>
                <a:cs typeface="Arial" pitchFamily="34" charset="-120"/>
              </a:rPr>
              <a:t>LIMITATIONS AND NEXT STEPS</a:t>
            </a:r>
            <a:endParaRPr lang="en-US" sz="1200" dirty="0"/>
          </a:p>
        </p:txBody>
      </p:sp>
      <p:sp>
        <p:nvSpPr>
          <p:cNvPr id="7" name="Text 5"/>
          <p:cNvSpPr/>
          <p:nvPr/>
        </p:nvSpPr>
        <p:spPr>
          <a:xfrm>
            <a:off x="6345682" y="2156371"/>
            <a:ext cx="5179822" cy="1056481"/>
          </a:xfrm>
          <a:prstGeom prst="rect">
            <a:avLst/>
          </a:prstGeom>
          <a:noFill/>
          <a:ln/>
        </p:spPr>
        <p:txBody>
          <a:bodyPr wrap="square" lIns="0" tIns="0" rIns="0" bIns="0" rtlCol="0" anchor="t">
            <a:normAutofit/>
          </a:bodyPr>
          <a:lstStyle/>
          <a:p>
            <a:pPr marL="156718" indent="-156718" algn="l">
              <a:lnSpc>
                <a:spcPts val="2030"/>
              </a:lnSpc>
              <a:buSzPct val="100000"/>
              <a:buChar char="•"/>
            </a:pPr>
            <a:r>
              <a:rPr lang="en-US" sz="1400" dirty="0">
                <a:solidFill>
                  <a:srgbClr val="EDEDEB"/>
                </a:solidFill>
                <a:latin typeface="Arial" pitchFamily="34" charset="0"/>
                <a:ea typeface="Arial" pitchFamily="34" charset="-122"/>
                <a:cs typeface="Arial" pitchFamily="34" charset="-120"/>
              </a:rPr>
              <a:t>6.6% of test buildings have no history</a:t>
            </a:r>
            <a:endParaRPr lang="en-US" sz="1400" dirty="0"/>
          </a:p>
          <a:p>
            <a:pPr marL="156718" indent="-156718" algn="l">
              <a:lnSpc>
                <a:spcPts val="2030"/>
              </a:lnSpc>
              <a:buSzPct val="100000"/>
              <a:buChar char="•"/>
            </a:pPr>
            <a:r>
              <a:rPr lang="en-US" sz="1400" dirty="0">
                <a:solidFill>
                  <a:srgbClr val="EDEDEB"/>
                </a:solidFill>
                <a:latin typeface="Arial" pitchFamily="34" charset="0"/>
                <a:ea typeface="Arial" pitchFamily="34" charset="-122"/>
                <a:cs typeface="Arial" pitchFamily="34" charset="-120"/>
              </a:rPr>
              <a:t>Validation is one year; true test score unknown</a:t>
            </a:r>
            <a:endParaRPr lang="en-US" sz="1400" dirty="0"/>
          </a:p>
          <a:p>
            <a:pPr marL="156718" indent="-156718" algn="l">
              <a:lnSpc>
                <a:spcPts val="2030"/>
              </a:lnSpc>
              <a:buSzPct val="100000"/>
              <a:buChar char="•"/>
            </a:pPr>
            <a:r>
              <a:rPr lang="en-US" sz="1400" dirty="0">
                <a:solidFill>
                  <a:srgbClr val="EDEDEB"/>
                </a:solidFill>
                <a:latin typeface="Arial" pitchFamily="34" charset="0"/>
                <a:ea typeface="Arial" pitchFamily="34" charset="-122"/>
                <a:cs typeface="Arial" pitchFamily="34" charset="-120"/>
              </a:rPr>
              <a:t>Next: flag buildings far above prediction for retrofits</a:t>
            </a:r>
            <a:endParaRPr lang="en-US" sz="1400" dirty="0"/>
          </a:p>
          <a:p>
            <a:pPr marL="156718" indent="-156718" algn="l">
              <a:lnSpc>
                <a:spcPts val="2030"/>
              </a:lnSpc>
              <a:buSzPct val="100000"/>
              <a:buChar char="•"/>
            </a:pPr>
            <a:r>
              <a:rPr lang="en-US" sz="1400" dirty="0">
                <a:solidFill>
                  <a:srgbClr val="EDEDEB"/>
                </a:solidFill>
                <a:latin typeface="Arial" pitchFamily="34" charset="0"/>
                <a:ea typeface="Arial" pitchFamily="34" charset="-122"/>
                <a:cs typeface="Arial" pitchFamily="34" charset="-120"/>
              </a:rPr>
              <a:t>Next: tune the neural network; add group averages</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B9BE"/>
                </a:solidFill>
                <a:latin typeface="Arial" pitchFamily="34" charset="0"/>
                <a:ea typeface="Arial" pitchFamily="34" charset="-122"/>
                <a:cs typeface="Arial" pitchFamily="34" charset="-120"/>
              </a:rPr>
              <a:t>Thank you · Submission and conclusions · 20 / 20</a:t>
            </a:r>
            <a:endParaRPr lang="en-US" sz="1200" dirty="0"/>
          </a:p>
        </p:txBody>
      </p:sp>
    </p:spTree>
  </p:cSld>
  <p:clrMapOvr>
    <a:masterClrMapping/>
  </p:clrMapOvr>
</p:sld>
</file>

<file path=ppt/theme/theme1.xml><?xml version="1.0" encoding="utf-8"?>
<a:theme xmlns:a="http://schemas.openxmlformats.org/drawingml/2006/main" name="Building Energy Prediction: Full Presentation">
  <a:themeElements>
    <a:clrScheme name="Building Energy Prediction: Full Presentation">
      <a:dk1>
        <a:srgbClr val="1D2125"/>
      </a:dk1>
      <a:lt1>
        <a:srgbClr val="F3F3F1"/>
      </a:lt1>
      <a:dk2>
        <a:srgbClr val="535658"/>
      </a:dk2>
      <a:lt2>
        <a:srgbClr val="DEDEDD"/>
      </a:lt2>
      <a:accent1>
        <a:srgbClr val="6B7177"/>
      </a:accent1>
      <a:accent2>
        <a:srgbClr val="4B5258"/>
      </a:accent2>
      <a:accent3>
        <a:srgbClr val="B4B9BE"/>
      </a:accent3>
      <a:accent4>
        <a:srgbClr val="50565C"/>
      </a:accent4>
      <a:accent5>
        <a:srgbClr val="9AA0A6"/>
      </a:accent5>
      <a:accent6>
        <a:srgbClr val="737577"/>
      </a:accent6>
      <a:hlink>
        <a:srgbClr val="0563C1"/>
      </a:hlink>
      <a:folHlink>
        <a:srgbClr val="954F72"/>
      </a:folHlink>
    </a:clrScheme>
    <a:fontScheme name="Building Energy Prediction: Full Present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20</Slides>
  <Notes>20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Building Energy Prediction: Full Presentation</vt:lpstr>
      <vt:lpstr>Predicting Building Energy Use Intensity</vt:lpstr>
      <vt:lpstr>Agenda</vt:lpstr>
      <vt:lpstr>Predict Site EUI for each building in a future year</vt:lpstr>
      <vt:lpstr>75,757 training rows over six years; test is year 7</vt:lpstr>
      <vt:lpstr>The target is strongly right-skewed</vt:lpstr>
      <vt:lpstr>The test set comes from a different mix of states</vt:lpstr>
      <vt:lpstr>Six columns have gaps, four are nearly empty in test</vt:lpstr>
      <vt:lpstr>Every cleaning step traces back to an audit finding</vt:lpstr>
      <vt:lpstr>A time-based split scored on test-like buildings</vt:lpstr>
      <vt:lpstr>The final models use 66 predictors</vt:lpstr>
      <vt:lpstr>The same buildings reappear every year</vt:lpstr>
      <vt:lpstr>Building history in MATLAB</vt:lpstr>
      <vt:lpstr>Missing values get their own branch in tree models</vt:lpstr>
      <vt:lpstr>All candidates are Regression Learner models</vt:lpstr>
      <vt:lpstr>Without building history, the best test-like RMSE was 46.84</vt:lpstr>
      <vt:lpstr>History features cut test-like error by about 45%</vt:lpstr>
      <vt:lpstr>With history, boosting peaks after about 40 trees</vt:lpstr>
      <vt:lpstr>A building’s history and type drive the prediction</vt:lpstr>
      <vt:lpstr>The final submission and how to reproduce it</vt:lpstr>
      <vt:lpstr>From 64.88 to 25.99 RMSE, a 60% reduction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Energy Prediction: Full Presentation</dc:title>
  <dc:subject/>
  <dc:creator/>
  <cp:lastModifiedBy/>
  <cp:revision>2</cp:revision>
  <dcterms:created xsi:type="dcterms:W3CDTF">2026-10-30T08:14:32Z</dcterms:created>
  <dcterms:modified xsi:type="dcterms:W3CDTF">2026-10-30T08:26:24Z</dcterms:modified>
</cp:coreProperties>
</file>