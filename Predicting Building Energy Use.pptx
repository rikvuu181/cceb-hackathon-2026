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CCEB ANATA. Buildings are a big share of energy use and emissions. If we can predict how much energy a building should use, we can spot the ones using far more than expected. Those are the best candidates for retrofitting. In five minutes we’ll show how we cut the prediction error step by step, starting from a naive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building in one year. We get building characteristics and the weather where it stands, and we predict Site Energy Use Intensity: energy per square foot per year. The score is root mean squared error, roughly the typical size of a miss in EUI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we compared train and test. The test set is a future year, and one state that dominates training doesn’t appear in test at all. Several weather columns are almost empty in test. Each finding drove a specific cleaning or validation decision, shown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80/20 split mixes years, so the model gets to peek at the same buildings in the same year. Instead we train on years 1 to 5 and validate on year 6. We also score only buildings outside State 6, because the test set has none. For the random forest, that test-like score was 47.0 against 42.8 on all of year 6, a 4.2 point gap we would have missed otherwise. After choosing the model, we retrain on all six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has a reason. Floor area is log-scaled. The 36 monthly temperatures become three seasonal summaries. A missing Energy Star rating is treated as information. And we left out the year index on purpose, because the test year lies outside anything the model has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key idea, and it’s also what the top WiDS 2022 teams relied on. The data hides building IDs, but a combination of five fixed attributes is almost unique per building. Matching on it, 93 percent of test buildings have history. A building’s own past energy use is a far better guide than any weather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iteration story. Predicting the average gives 64.9. Linear regression gets to 54.3. Tree ensembles do better: boosted trees 48.5, bagged trees 47.0, and averaging the two gives 46.8 because they make different mistakes. Then the building-history features bring bagged trees down to 26.4, almost halving the error again. Even linear regression drops from 54.3 to 35.8 with them. Every model here is available in MATLAB’s Regression Learner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noticed our MATLAB trees scored well below the same features in another library. The reason is how fitrensemble trees treat NaN at prediction time. Filling missing values with a sentinel value outside the normal range lets the trees route those buildings down their own branch. The linear model still uses median imputation.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solution is three scripts and a few helper functions. runAll runs them end to end with no manual steps, fixed random seeds, and asserts that the submission matches the sample file’s format. The code is public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Check the test set first. Domain thinking, like recognising that buildings repeat over years, mattered more than which algorithm we picked. Understand your tools. And standard Regression Learner models were enough. The natural next step is to use the model the way it was meant to be used: flag buildings that use far more energy than predicted, as retrofit candidates.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Arial" pitchFamily="34" charset="0"/>
                <a:ea typeface="Arial" pitchFamily="34" charset="-122"/>
                <a:cs typeface="Arial" pitchFamily="34" charset="-120"/>
              </a:rPr>
              <a:t>MATLAB HACKATHON 2026 · TEAM CCEB ANATA</a:t>
            </a:r>
            <a:endParaRPr lang="en-US" sz="1400" dirty="0"/>
          </a:p>
        </p:txBody>
      </p:sp>
      <p:sp>
        <p:nvSpPr>
          <p:cNvPr id="3" name="Text 1"/>
          <p:cNvSpPr/>
          <p:nvPr>
            <p:ph type="title"/>
          </p:nvPr>
        </p:nvSpPr>
        <p:spPr>
          <a:xfrm>
            <a:off x="812800" y="21590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Arial" pitchFamily="34" charset="0"/>
                <a:ea typeface="Arial" pitchFamily="34" charset="-122"/>
                <a:cs typeface="Arial" pitchFamily="34" charset="-120"/>
              </a:rPr>
              <a:t>Which buildings waste the most energy?</a:t>
            </a:r>
            <a:endParaRPr lang="en-US" sz="6000" dirty="0"/>
          </a:p>
        </p:txBody>
      </p:sp>
      <p:sp>
        <p:nvSpPr>
          <p:cNvPr id="4" name="Text 2"/>
          <p:cNvSpPr/>
          <p:nvPr/>
        </p:nvSpPr>
        <p:spPr>
          <a:xfrm>
            <a:off x="812800" y="401320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8DA"/>
                </a:solidFill>
                <a:latin typeface="Arial" pitchFamily="34" charset="0"/>
                <a:ea typeface="Arial" pitchFamily="34" charset="-122"/>
                <a:cs typeface="Arial" pitchFamily="34" charset="-120"/>
              </a:rPr>
              <a:t>Predicting Site Energy Use Intensity for 9,705 buildings, using MATLAB and Regression Learner models</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A"/>
                </a:solidFill>
                <a:latin typeface="Arial" pitchFamily="34" charset="0"/>
                <a:ea typeface="Arial" pitchFamily="34" charset="-122"/>
                <a:cs typeface="Arial" pitchFamily="34" charset="-120"/>
              </a:rPr>
              <a:t>Duong Minh Triet · Nguyen Dang Quang · Huynh Xuan Lam · Vuu Tan Loc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The task: predict energy use per square foot</a:t>
            </a:r>
            <a:endParaRPr lang="en-US" sz="3600" dirty="0"/>
          </a:p>
        </p:txBody>
      </p:sp>
      <p:sp>
        <p:nvSpPr>
          <p:cNvPr id="3" name="Shape 1"/>
          <p:cNvSpPr/>
          <p:nvPr/>
        </p:nvSpPr>
        <p:spPr>
          <a:xfrm>
            <a:off x="815975" y="1725265"/>
            <a:ext cx="3380284" cy="2083941"/>
          </a:xfrm>
          <a:prstGeom prst="roundRect">
            <a:avLst>
              <a:gd name="adj" fmla="val 4723"/>
            </a:avLst>
          </a:prstGeom>
          <a:solidFill>
            <a:srgbClr val="FFFDF8"/>
          </a:solidFill>
          <a:ln w="6350">
            <a:solidFill>
              <a:srgbClr val="DDD8CC"/>
            </a:solidFill>
            <a:prstDash val="solid"/>
          </a:ln>
        </p:spPr>
      </p:sp>
      <p:sp>
        <p:nvSpPr>
          <p:cNvPr id="4" name="Text 2"/>
          <p:cNvSpPr/>
          <p:nvPr/>
        </p:nvSpPr>
        <p:spPr>
          <a:xfrm>
            <a:off x="1073150" y="1982440"/>
            <a:ext cx="2951912"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4621D"/>
                </a:solidFill>
                <a:latin typeface="Arial" pitchFamily="34" charset="0"/>
                <a:ea typeface="Arial" pitchFamily="34" charset="-122"/>
                <a:cs typeface="Arial" pitchFamily="34" charset="-120"/>
              </a:rPr>
              <a:t>75,757</a:t>
            </a:r>
            <a:endParaRPr lang="en-US" sz="4800" dirty="0"/>
          </a:p>
        </p:txBody>
      </p:sp>
      <p:sp>
        <p:nvSpPr>
          <p:cNvPr id="5" name="Text 3"/>
          <p:cNvSpPr/>
          <p:nvPr/>
        </p:nvSpPr>
        <p:spPr>
          <a:xfrm>
            <a:off x="1073150" y="2729161"/>
            <a:ext cx="2951912"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Arial" pitchFamily="34" charset="0"/>
                <a:ea typeface="Arial" pitchFamily="34" charset="-122"/>
                <a:cs typeface="Arial" pitchFamily="34" charset="-120"/>
              </a:rPr>
              <a:t>building-years to learn from, across 6 years and 7 anonymised US states</a:t>
            </a:r>
            <a:endParaRPr lang="en-US" sz="1600" dirty="0"/>
          </a:p>
        </p:txBody>
      </p:sp>
      <p:sp>
        <p:nvSpPr>
          <p:cNvPr id="6" name="Shape 4"/>
          <p:cNvSpPr/>
          <p:nvPr/>
        </p:nvSpPr>
        <p:spPr>
          <a:xfrm>
            <a:off x="4405809" y="1725265"/>
            <a:ext cx="3380333" cy="2083941"/>
          </a:xfrm>
          <a:prstGeom prst="roundRect">
            <a:avLst>
              <a:gd name="adj" fmla="val 4723"/>
            </a:avLst>
          </a:prstGeom>
          <a:solidFill>
            <a:srgbClr val="FFFDF8"/>
          </a:solidFill>
          <a:ln w="6350">
            <a:solidFill>
              <a:srgbClr val="DDD8CC"/>
            </a:solidFill>
            <a:prstDash val="solid"/>
          </a:ln>
        </p:spPr>
      </p:sp>
      <p:sp>
        <p:nvSpPr>
          <p:cNvPr id="7" name="Text 5"/>
          <p:cNvSpPr/>
          <p:nvPr/>
        </p:nvSpPr>
        <p:spPr>
          <a:xfrm>
            <a:off x="4662984" y="1982440"/>
            <a:ext cx="2951963"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4621D"/>
                </a:solidFill>
                <a:latin typeface="Arial" pitchFamily="34" charset="0"/>
                <a:ea typeface="Arial" pitchFamily="34" charset="-122"/>
                <a:cs typeface="Arial" pitchFamily="34" charset="-120"/>
              </a:rPr>
              <a:t>9,705</a:t>
            </a:r>
            <a:endParaRPr lang="en-US" sz="4800" dirty="0"/>
          </a:p>
        </p:txBody>
      </p:sp>
      <p:sp>
        <p:nvSpPr>
          <p:cNvPr id="8" name="Text 6"/>
          <p:cNvSpPr/>
          <p:nvPr/>
        </p:nvSpPr>
        <p:spPr>
          <a:xfrm>
            <a:off x="4662984" y="2729161"/>
            <a:ext cx="295196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Arial" pitchFamily="34" charset="0"/>
                <a:ea typeface="Arial" pitchFamily="34" charset="-122"/>
                <a:cs typeface="Arial" pitchFamily="34" charset="-120"/>
              </a:rPr>
              <a:t>buildings to predict, all from the following year</a:t>
            </a:r>
            <a:endParaRPr lang="en-US" sz="1600" dirty="0"/>
          </a:p>
        </p:txBody>
      </p:sp>
      <p:sp>
        <p:nvSpPr>
          <p:cNvPr id="9" name="Shape 7"/>
          <p:cNvSpPr/>
          <p:nvPr/>
        </p:nvSpPr>
        <p:spPr>
          <a:xfrm>
            <a:off x="7995692" y="1725265"/>
            <a:ext cx="3380333" cy="2083941"/>
          </a:xfrm>
          <a:prstGeom prst="roundRect">
            <a:avLst>
              <a:gd name="adj" fmla="val 4723"/>
            </a:avLst>
          </a:prstGeom>
          <a:solidFill>
            <a:srgbClr val="FFFDF8"/>
          </a:solidFill>
          <a:ln w="6350">
            <a:solidFill>
              <a:srgbClr val="DDD8CC"/>
            </a:solidFill>
            <a:prstDash val="solid"/>
          </a:ln>
        </p:spPr>
      </p:sp>
      <p:sp>
        <p:nvSpPr>
          <p:cNvPr id="10" name="Text 8"/>
          <p:cNvSpPr/>
          <p:nvPr/>
        </p:nvSpPr>
        <p:spPr>
          <a:xfrm>
            <a:off x="8252867" y="1982440"/>
            <a:ext cx="2951963"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4621D"/>
                </a:solidFill>
                <a:latin typeface="Arial" pitchFamily="34" charset="0"/>
                <a:ea typeface="Arial" pitchFamily="34" charset="-122"/>
                <a:cs typeface="Arial" pitchFamily="34" charset="-120"/>
              </a:rPr>
              <a:t>60</a:t>
            </a:r>
            <a:endParaRPr lang="en-US" sz="4800" dirty="0"/>
          </a:p>
        </p:txBody>
      </p:sp>
      <p:sp>
        <p:nvSpPr>
          <p:cNvPr id="11" name="Text 9"/>
          <p:cNvSpPr/>
          <p:nvPr/>
        </p:nvSpPr>
        <p:spPr>
          <a:xfrm>
            <a:off x="8252867" y="272916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Arial" pitchFamily="34" charset="0"/>
                <a:ea typeface="Arial" pitchFamily="34" charset="-122"/>
                <a:cs typeface="Arial" pitchFamily="34" charset="-120"/>
              </a:rPr>
              <a:t>facility types, from offices and schools to data centres and hospitals</a:t>
            </a:r>
            <a:endParaRPr lang="en-US" sz="1600" dirty="0"/>
          </a:p>
        </p:txBody>
      </p:sp>
      <p:sp>
        <p:nvSpPr>
          <p:cNvPr id="12" name="Text 10"/>
          <p:cNvSpPr/>
          <p:nvPr/>
        </p:nvSpPr>
        <p:spPr>
          <a:xfrm>
            <a:off x="812800" y="4218781"/>
            <a:ext cx="11379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Inputs: building facts (floor area, year built, Energy Star rating) and local weather. Target: </a:t>
            </a:r>
            <a:r>
              <a:rPr lang="en-US" sz="1600" b="1" dirty="0">
                <a:solidFill>
                  <a:srgbClr val="4A5568"/>
                </a:solidFill>
                <a:latin typeface="Arial" pitchFamily="34" charset="0"/>
                <a:ea typeface="Arial" pitchFamily="34" charset="-122"/>
                <a:cs typeface="Arial" pitchFamily="34" charset="-120"/>
              </a:rPr>
              <a:t>Site EUI</a:t>
            </a:r>
            <a:r>
              <a:rPr lang="en-US" sz="1600" dirty="0">
                <a:solidFill>
                  <a:srgbClr val="4A5568"/>
                </a:solidFill>
                <a:latin typeface="Arial" pitchFamily="34" charset="0"/>
                <a:ea typeface="Arial" pitchFamily="34" charset="-122"/>
                <a:cs typeface="Arial" pitchFamily="34" charset="-120"/>
              </a:rPr>
              <a:t>, scored by RMSE.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Exploring the data: the test set is not like training</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186880"/>
          <a:ext cx="10553700" cy="2636044"/>
        </p:xfrm>
        <a:graphic>
          <a:graphicData uri="http://schemas.openxmlformats.org/drawingml/2006/table">
            <a:tbl>
              <a:tblPr/>
              <a:tblGrid>
                <a:gridCol w="4432554"/>
                <a:gridCol w="6121146"/>
              </a:tblGrid>
              <a:tr h="439341">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What we found</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What we did about it</a:t>
                      </a:r>
                      <a:endParaRPr lang="en-US" sz="1600" dirty="0">
                        <a:latin typeface="Arial" charset="0"/>
                        <a:ea typeface="Arial" charset="0"/>
                        <a:cs typeface="Arial"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39341">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Test is one future year (year 7)</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Validate on the latest year, not a random split</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State 6 is 67% of training, 0% of test</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Score a “test-like” subset without State 6</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Wind and fog columns 88–94% empty in test</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Dropped them</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Energy Star rating missing for ~1 in 3</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Kept it, plus a “missing” flag</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Year built recorded as 0 for some buildings</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Treated as missing</a:t>
                      </a:r>
                      <a:endParaRPr lang="en-US" sz="1600" dirty="0">
                        <a:latin typeface="Arial" charset="0"/>
                        <a:ea typeface="Arial" charset="0"/>
                        <a:cs typeface="Arial"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Validation that mimics the real test</a:t>
            </a:r>
            <a:endParaRPr lang="en-US" sz="3600" dirty="0"/>
          </a:p>
        </p:txBody>
      </p:sp>
      <p:sp>
        <p:nvSpPr>
          <p:cNvPr id="3" name="Shape 1"/>
          <p:cNvSpPr/>
          <p:nvPr/>
        </p:nvSpPr>
        <p:spPr>
          <a:xfrm>
            <a:off x="812800" y="1722090"/>
            <a:ext cx="5585172" cy="1015950"/>
          </a:xfrm>
          <a:custGeom>
            <a:avLst/>
            <a:gdLst/>
            <a:ahLst/>
            <a:cxnLst/>
            <a:rect l="l" t="t" r="r" b="b"/>
            <a:pathLst>
              <a:path w="5585172" h="1015950">
                <a:moveTo>
                  <a:pt x="101600" y="0"/>
                </a:moveTo>
                <a:lnTo>
                  <a:pt x="5585172" y="0"/>
                </a:lnTo>
                <a:lnTo>
                  <a:pt x="5585172" y="1015950"/>
                </a:lnTo>
                <a:lnTo>
                  <a:pt x="101600" y="1015950"/>
                </a:lnTo>
                <a:arcTo hR="101600" wR="101600" stAng="5400000" swAng="5400000"/>
                <a:lnTo>
                  <a:pt x="0" y="101600"/>
                </a:lnTo>
                <a:arcTo hR="101600" wR="101600" stAng="10800000" swAng="5400000"/>
                <a:close/>
              </a:path>
            </a:pathLst>
          </a:custGeom>
          <a:solidFill>
            <a:srgbClr val="2F5D8A"/>
          </a:solidFill>
          <a:ln/>
        </p:spPr>
      </p:sp>
      <p:sp>
        <p:nvSpPr>
          <p:cNvPr id="4" name="Text 2"/>
          <p:cNvSpPr/>
          <p:nvPr/>
        </p:nvSpPr>
        <p:spPr>
          <a:xfrm>
            <a:off x="1016000" y="1925290"/>
            <a:ext cx="533413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Arial" pitchFamily="34" charset="0"/>
                <a:ea typeface="Arial" pitchFamily="34" charset="-122"/>
                <a:cs typeface="Arial" pitchFamily="34" charset="-120"/>
              </a:rPr>
              <a:t>Years 1–5</a:t>
            </a:r>
            <a:endParaRPr lang="en-US" sz="1600" dirty="0"/>
          </a:p>
        </p:txBody>
      </p:sp>
      <p:sp>
        <p:nvSpPr>
          <p:cNvPr id="5" name="Text 3"/>
          <p:cNvSpPr/>
          <p:nvPr/>
        </p:nvSpPr>
        <p:spPr>
          <a:xfrm>
            <a:off x="1016000" y="2260550"/>
            <a:ext cx="53341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6F2"/>
                </a:solidFill>
                <a:latin typeface="Arial" pitchFamily="34" charset="0"/>
                <a:ea typeface="Arial" pitchFamily="34" charset="-122"/>
                <a:cs typeface="Arial" pitchFamily="34" charset="-120"/>
              </a:rPr>
              <a:t>Train</a:t>
            </a:r>
            <a:endParaRPr lang="en-US" sz="1400" dirty="0"/>
          </a:p>
        </p:txBody>
      </p:sp>
      <p:sp>
        <p:nvSpPr>
          <p:cNvPr id="6" name="Shape 4"/>
          <p:cNvSpPr/>
          <p:nvPr/>
        </p:nvSpPr>
        <p:spPr>
          <a:xfrm>
            <a:off x="6397972" y="1722090"/>
            <a:ext cx="2477939" cy="1015950"/>
          </a:xfrm>
          <a:prstGeom prst="rect">
            <a:avLst/>
          </a:prstGeom>
          <a:solidFill>
            <a:srgbClr val="C4621D"/>
          </a:solidFill>
          <a:ln/>
        </p:spPr>
      </p:sp>
      <p:sp>
        <p:nvSpPr>
          <p:cNvPr id="7" name="Text 5"/>
          <p:cNvSpPr/>
          <p:nvPr/>
        </p:nvSpPr>
        <p:spPr>
          <a:xfrm>
            <a:off x="6601172" y="1925290"/>
            <a:ext cx="213368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Arial" pitchFamily="34" charset="0"/>
                <a:ea typeface="Arial" pitchFamily="34" charset="-122"/>
                <a:cs typeface="Arial" pitchFamily="34" charset="-120"/>
              </a:rPr>
              <a:t>Year 6</a:t>
            </a:r>
            <a:endParaRPr lang="en-US" sz="1600" dirty="0"/>
          </a:p>
        </p:txBody>
      </p:sp>
      <p:sp>
        <p:nvSpPr>
          <p:cNvPr id="8" name="Text 6"/>
          <p:cNvSpPr/>
          <p:nvPr/>
        </p:nvSpPr>
        <p:spPr>
          <a:xfrm>
            <a:off x="6601172" y="2260550"/>
            <a:ext cx="21336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1E3"/>
                </a:solidFill>
                <a:latin typeface="Arial" pitchFamily="34" charset="0"/>
                <a:ea typeface="Arial" pitchFamily="34" charset="-122"/>
                <a:cs typeface="Arial" pitchFamily="34" charset="-120"/>
              </a:rPr>
              <a:t>Validate</a:t>
            </a:r>
            <a:endParaRPr lang="en-US" sz="1400" dirty="0"/>
          </a:p>
        </p:txBody>
      </p:sp>
      <p:sp>
        <p:nvSpPr>
          <p:cNvPr id="9" name="Shape 7"/>
          <p:cNvSpPr/>
          <p:nvPr/>
        </p:nvSpPr>
        <p:spPr>
          <a:xfrm>
            <a:off x="8882261" y="1728440"/>
            <a:ext cx="2490589" cy="1003250"/>
          </a:xfrm>
          <a:custGeom>
            <a:avLst/>
            <a:gdLst/>
            <a:ahLst/>
            <a:cxnLst/>
            <a:rect l="l" t="t" r="r" b="b"/>
            <a:pathLst>
              <a:path w="2490589" h="1003250">
                <a:moveTo>
                  <a:pt x="0" y="0"/>
                </a:moveTo>
                <a:lnTo>
                  <a:pt x="2395339" y="0"/>
                </a:lnTo>
                <a:arcTo hR="95250" wR="95250" stAng="16200000" swAng="5400000"/>
                <a:lnTo>
                  <a:pt x="2490589" y="908000"/>
                </a:lnTo>
                <a:arcTo hR="95250" wR="95250" stAng="0" swAng="5400000"/>
                <a:lnTo>
                  <a:pt x="0" y="1003250"/>
                </a:lnTo>
                <a:lnTo>
                  <a:pt x="0" y="0"/>
                </a:lnTo>
                <a:close/>
              </a:path>
            </a:pathLst>
          </a:custGeom>
          <a:solidFill>
            <a:srgbClr val="FFFDF8"/>
          </a:solidFill>
          <a:ln w="12700">
            <a:solidFill>
              <a:srgbClr val="14213D"/>
            </a:solidFill>
            <a:prstDash val="dash"/>
          </a:ln>
        </p:spPr>
      </p:sp>
      <p:sp>
        <p:nvSpPr>
          <p:cNvPr id="10" name="Text 8"/>
          <p:cNvSpPr/>
          <p:nvPr/>
        </p:nvSpPr>
        <p:spPr>
          <a:xfrm>
            <a:off x="9091811" y="1937990"/>
            <a:ext cx="21336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Year 7</a:t>
            </a:r>
            <a:endParaRPr lang="en-US" sz="1600" dirty="0"/>
          </a:p>
        </p:txBody>
      </p:sp>
      <p:sp>
        <p:nvSpPr>
          <p:cNvPr id="11" name="Text 9"/>
          <p:cNvSpPr/>
          <p:nvPr/>
        </p:nvSpPr>
        <p:spPr>
          <a:xfrm>
            <a:off x="9091811" y="2273250"/>
            <a:ext cx="213363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Hidden test</a:t>
            </a:r>
            <a:endParaRPr lang="en-US" sz="1400" dirty="0"/>
          </a:p>
        </p:txBody>
      </p:sp>
      <p:sp>
        <p:nvSpPr>
          <p:cNvPr id="12" name="Text 10"/>
          <p:cNvSpPr/>
          <p:nvPr/>
        </p:nvSpPr>
        <p:spPr>
          <a:xfrm>
            <a:off x="812800" y="3243461"/>
            <a:ext cx="180516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C4621D"/>
                </a:solidFill>
                <a:latin typeface="Arial" pitchFamily="34" charset="0"/>
                <a:ea typeface="Arial" pitchFamily="34" charset="-122"/>
                <a:cs typeface="Arial" pitchFamily="34" charset="-120"/>
              </a:rPr>
              <a:t>+4.2</a:t>
            </a:r>
            <a:endParaRPr lang="en-US" sz="6000" dirty="0"/>
          </a:p>
        </p:txBody>
      </p:sp>
      <p:sp>
        <p:nvSpPr>
          <p:cNvPr id="13" name="Text 11"/>
          <p:cNvSpPr/>
          <p:nvPr/>
        </p:nvSpPr>
        <p:spPr>
          <a:xfrm>
            <a:off x="2621905" y="3144441"/>
            <a:ext cx="9020014" cy="9854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Arial" pitchFamily="34" charset="0"/>
                <a:ea typeface="Arial" pitchFamily="34" charset="-122"/>
                <a:cs typeface="Arial" pitchFamily="34" charset="-120"/>
              </a:rPr>
              <a:t>RMSE points worse on the </a:t>
            </a:r>
            <a:r>
              <a:rPr lang="en-US" sz="1800" b="1" dirty="0">
                <a:solidFill>
                  <a:srgbClr val="4A5568"/>
                </a:solidFill>
                <a:latin typeface="Arial" pitchFamily="34" charset="0"/>
                <a:ea typeface="Arial" pitchFamily="34" charset="-122"/>
                <a:cs typeface="Arial" pitchFamily="34" charset="-120"/>
              </a:rPr>
              <a:t>test-like</a:t>
            </a:r>
            <a:r>
              <a:rPr lang="en-US" sz="1800" dirty="0">
                <a:solidFill>
                  <a:srgbClr val="4A5568"/>
                </a:solidFill>
                <a:latin typeface="Arial" pitchFamily="34" charset="0"/>
                <a:ea typeface="Arial" pitchFamily="34" charset="-122"/>
                <a:cs typeface="Arial" pitchFamily="34" charset="-120"/>
              </a:rPr>
              <a:t> buildings (no State 6) than on all of year 6. A random split would have hidden this gap, so every model choice used the test-like score.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Arial" pitchFamily="34" charset="0"/>
                <a:ea typeface="Arial" pitchFamily="34" charset="-122"/>
                <a:cs typeface="Arial" pitchFamily="34" charset="-120"/>
              </a:rPr>
              <a:t>In the code: a time-based split</a:t>
            </a:r>
            <a:endParaRPr lang="en-US" sz="3200" dirty="0"/>
          </a:p>
        </p:txBody>
      </p:sp>
      <p:sp>
        <p:nvSpPr>
          <p:cNvPr id="3" name="Text 1"/>
          <p:cNvSpPr/>
          <p:nvPr/>
        </p:nvSpPr>
        <p:spPr>
          <a:xfrm>
            <a:off x="812800" y="1564630"/>
            <a:ext cx="10566400" cy="2794000"/>
          </a:xfrm>
          <a:prstGeom prst="roundRect">
            <a:avLst>
              <a:gd name="adj" fmla="val 2727"/>
            </a:avLst>
          </a:prstGeom>
          <a:solidFill>
            <a:srgbClr val="0D1730"/>
          </a:solidFill>
          <a:ln/>
        </p:spPr>
        <p:txBody>
          <a:bodyPr wrap="square" lIns="231682" tIns="231682" rIns="0" bIns="206282" rtlCol="0" anchor="t">
            <a:normAutofit/>
          </a:bodyPr>
          <a:lstStyle/>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 Test is a future year, so a random split would be too optimistic.</a:t>
            </a: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 Train on years 1-5 and validate on year 6.</a:t>
            </a: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isVal = train.Year_Factor == 6;</a:t>
            </a: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trainSet = train(~isVal, :);</a:t>
            </a: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valSet   = train(isVal, :);</a:t>
            </a:r>
            <a:endParaRPr lang="en-US" sz="1500" dirty="0"/>
          </a:p>
          <a:p>
            <a:pPr algn="l" indent="0" marL="0">
              <a:lnSpc>
                <a:spcPts val="2250"/>
              </a:lnSpc>
              <a:buNone/>
            </a:pP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 Test has no State_6, so also score a "test-like" subset</a:t>
            </a:r>
            <a:endParaRPr lang="en-US" sz="1500" dirty="0"/>
          </a:p>
          <a:p>
            <a:pPr algn="l" indent="0" marL="0">
              <a:lnSpc>
                <a:spcPts val="2250"/>
              </a:lnSpc>
              <a:buNone/>
            </a:pPr>
            <a:r>
              <a:rPr lang="en-US" sz="1500" dirty="0">
                <a:solidFill>
                  <a:srgbClr val="E6EBF5"/>
                </a:solidFill>
                <a:latin typeface="Courier New" pitchFamily="49" charset="0"/>
                <a:ea typeface="Courier New" pitchFamily="49" charset="-122"/>
                <a:cs typeface="Courier New" pitchFamily="49" charset="-120"/>
              </a:rPr>
              <a:t>valTestLike = valSet.State_Factor ~= "State_6";</a:t>
            </a:r>
            <a:endParaRPr lang="en-US" sz="1500" dirty="0"/>
          </a:p>
        </p:txBody>
      </p:sp>
      <p:sp>
        <p:nvSpPr>
          <p:cNvPr id="4" name="Text 2"/>
          <p:cNvSpPr/>
          <p:nvPr/>
        </p:nvSpPr>
        <p:spPr>
          <a:xfrm>
            <a:off x="812800" y="46634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A"/>
                </a:solidFill>
                <a:latin typeface="Arial" pitchFamily="34" charset="0"/>
                <a:ea typeface="Arial" pitchFamily="34" charset="-122"/>
                <a:cs typeface="Arial" pitchFamily="34" charset="-120"/>
              </a:rPr>
              <a:t>From </a:t>
            </a:r>
            <a:r>
              <a:rPr lang="en-US" sz="1500" b="1" dirty="0">
                <a:solidFill>
                  <a:srgbClr val="BFC8DA"/>
                </a:solidFill>
                <a:latin typeface="Arial" pitchFamily="34" charset="0"/>
                <a:ea typeface="Arial" pitchFamily="34" charset="-122"/>
                <a:cs typeface="Arial" pitchFamily="34" charset="-120"/>
              </a:rPr>
              <a:t>step1_prepare_data.m</a:t>
            </a:r>
            <a:r>
              <a:rPr lang="en-US" sz="1500" dirty="0">
                <a:solidFill>
                  <a:srgbClr val="BFC8DA"/>
                </a:solidFill>
                <a:latin typeface="Arial" pitchFamily="34" charset="0"/>
                <a:ea typeface="Arial" pitchFamily="34" charset="-122"/>
                <a:cs typeface="Arial" pitchFamily="34" charset="-120"/>
              </a:rPr>
              <a:t>. Every model is scored on </a:t>
            </a:r>
            <a:r>
              <a:rPr lang="en-US" sz="1500" dirty="0">
                <a:solidFill>
                  <a:srgbClr val="F2A65A"/>
                </a:solidFill>
                <a:latin typeface="Arial" pitchFamily="34" charset="0"/>
                <a:ea typeface="Arial" pitchFamily="34" charset="-122"/>
                <a:cs typeface="Arial" pitchFamily="34" charset="-120"/>
              </a:rPr>
              <a:t>valTestLike</a:t>
            </a:r>
            <a:r>
              <a:rPr lang="en-US" sz="1500" dirty="0">
                <a:solidFill>
                  <a:srgbClr val="BFC8DA"/>
                </a:solidFill>
                <a:latin typeface="Arial" pitchFamily="34" charset="0"/>
                <a:ea typeface="Arial" pitchFamily="34" charset="-122"/>
                <a:cs typeface="Arial" pitchFamily="34" charset="-120"/>
              </a:rPr>
              <a:t>, the rows that look most like the hidden test set.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Features with a physical reason behind them</a:t>
            </a:r>
            <a:endParaRPr lang="en-US" sz="3600" dirty="0"/>
          </a:p>
        </p:txBody>
      </p:sp>
      <p:sp>
        <p:nvSpPr>
          <p:cNvPr id="3" name="Shape 1"/>
          <p:cNvSpPr/>
          <p:nvPr/>
        </p:nvSpPr>
        <p:spPr>
          <a:xfrm>
            <a:off x="815975" y="1674465"/>
            <a:ext cx="5175250" cy="1428750"/>
          </a:xfrm>
          <a:prstGeom prst="roundRect">
            <a:avLst>
              <a:gd name="adj" fmla="val 6889"/>
            </a:avLst>
          </a:prstGeom>
          <a:solidFill>
            <a:srgbClr val="FFFDF8"/>
          </a:solidFill>
          <a:ln w="6350">
            <a:solidFill>
              <a:srgbClr val="DDD8CC"/>
            </a:solidFill>
            <a:prstDash val="solid"/>
          </a:ln>
        </p:spPr>
      </p:sp>
      <p:sp>
        <p:nvSpPr>
          <p:cNvPr id="4" name="Text 2"/>
          <p:cNvSpPr/>
          <p:nvPr/>
        </p:nvSpPr>
        <p:spPr>
          <a:xfrm>
            <a:off x="10731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Log floor area</a:t>
            </a:r>
            <a:endParaRPr lang="en-US" sz="2000" dirty="0"/>
          </a:p>
        </p:txBody>
      </p:sp>
      <p:sp>
        <p:nvSpPr>
          <p:cNvPr id="5" name="Text 3"/>
          <p:cNvSpPr/>
          <p:nvPr/>
        </p:nvSpPr>
        <p:spPr>
          <a:xfrm>
            <a:off x="1073150" y="2312640"/>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Sizes span several orders of magnitude</a:t>
            </a:r>
            <a:endParaRPr lang="en-US" sz="1500" dirty="0"/>
          </a:p>
        </p:txBody>
      </p:sp>
      <p:sp>
        <p:nvSpPr>
          <p:cNvPr id="6" name="Shape 4"/>
          <p:cNvSpPr/>
          <p:nvPr/>
        </p:nvSpPr>
        <p:spPr>
          <a:xfrm>
            <a:off x="6200775" y="1674465"/>
            <a:ext cx="5175250" cy="1428750"/>
          </a:xfrm>
          <a:prstGeom prst="roundRect">
            <a:avLst>
              <a:gd name="adj" fmla="val 6889"/>
            </a:avLst>
          </a:prstGeom>
          <a:solidFill>
            <a:srgbClr val="FFFDF8"/>
          </a:solidFill>
          <a:ln w="6350">
            <a:solidFill>
              <a:srgbClr val="DDD8CC"/>
            </a:solidFill>
            <a:prstDash val="solid"/>
          </a:ln>
        </p:spPr>
      </p:sp>
      <p:sp>
        <p:nvSpPr>
          <p:cNvPr id="7" name="Text 5"/>
          <p:cNvSpPr/>
          <p:nvPr/>
        </p:nvSpPr>
        <p:spPr>
          <a:xfrm>
            <a:off x="64579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Seasonal temperatures</a:t>
            </a:r>
            <a:endParaRPr lang="en-US" sz="2000" dirty="0"/>
          </a:p>
        </p:txBody>
      </p:sp>
      <p:sp>
        <p:nvSpPr>
          <p:cNvPr id="8" name="Text 6"/>
          <p:cNvSpPr/>
          <p:nvPr/>
        </p:nvSpPr>
        <p:spPr>
          <a:xfrm>
            <a:off x="6457950" y="231264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36 monthly columns summarised as winter, summer and annual range</a:t>
            </a:r>
            <a:endParaRPr lang="en-US" sz="1500" dirty="0"/>
          </a:p>
        </p:txBody>
      </p:sp>
      <p:sp>
        <p:nvSpPr>
          <p:cNvPr id="9" name="Shape 7"/>
          <p:cNvSpPr/>
          <p:nvPr/>
        </p:nvSpPr>
        <p:spPr>
          <a:xfrm>
            <a:off x="815975" y="3312765"/>
            <a:ext cx="5175250" cy="1428750"/>
          </a:xfrm>
          <a:prstGeom prst="roundRect">
            <a:avLst>
              <a:gd name="adj" fmla="val 6889"/>
            </a:avLst>
          </a:prstGeom>
          <a:solidFill>
            <a:srgbClr val="FFFDF8"/>
          </a:solidFill>
          <a:ln w="6350">
            <a:solidFill>
              <a:srgbClr val="DDD8CC"/>
            </a:solidFill>
            <a:prstDash val="solid"/>
          </a:ln>
        </p:spPr>
      </p:sp>
      <p:sp>
        <p:nvSpPr>
          <p:cNvPr id="10" name="Text 8"/>
          <p:cNvSpPr/>
          <p:nvPr/>
        </p:nvSpPr>
        <p:spPr>
          <a:xfrm>
            <a:off x="1073150" y="35699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Missing rating flag</a:t>
            </a:r>
            <a:endParaRPr lang="en-US" sz="2000" dirty="0"/>
          </a:p>
        </p:txBody>
      </p:sp>
      <p:sp>
        <p:nvSpPr>
          <p:cNvPr id="11" name="Text 9"/>
          <p:cNvSpPr/>
          <p:nvPr/>
        </p:nvSpPr>
        <p:spPr>
          <a:xfrm>
            <a:off x="1073150" y="3950940"/>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Unrated buildings behave differently from rated ones</a:t>
            </a:r>
            <a:endParaRPr lang="en-US" sz="1500" dirty="0"/>
          </a:p>
        </p:txBody>
      </p:sp>
      <p:sp>
        <p:nvSpPr>
          <p:cNvPr id="12" name="Shape 10"/>
          <p:cNvSpPr/>
          <p:nvPr/>
        </p:nvSpPr>
        <p:spPr>
          <a:xfrm>
            <a:off x="6200775" y="3312765"/>
            <a:ext cx="5175250" cy="1428750"/>
          </a:xfrm>
          <a:prstGeom prst="roundRect">
            <a:avLst>
              <a:gd name="adj" fmla="val 6889"/>
            </a:avLst>
          </a:prstGeom>
          <a:solidFill>
            <a:srgbClr val="FFFDF8"/>
          </a:solidFill>
          <a:ln w="6350">
            <a:solidFill>
              <a:srgbClr val="DDD8CC"/>
            </a:solidFill>
            <a:prstDash val="solid"/>
          </a:ln>
        </p:spPr>
      </p:sp>
      <p:sp>
        <p:nvSpPr>
          <p:cNvPr id="13" name="Text 11"/>
          <p:cNvSpPr/>
          <p:nvPr/>
        </p:nvSpPr>
        <p:spPr>
          <a:xfrm>
            <a:off x="6457950" y="35699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No year index</a:t>
            </a:r>
            <a:endParaRPr lang="en-US" sz="2000" dirty="0"/>
          </a:p>
        </p:txBody>
      </p:sp>
      <p:sp>
        <p:nvSpPr>
          <p:cNvPr id="14" name="Text 12"/>
          <p:cNvSpPr/>
          <p:nvPr/>
        </p:nvSpPr>
        <p:spPr>
          <a:xfrm>
            <a:off x="6457950" y="395094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Year 7 is outside the training range, so the model must not lean on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4621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E7D1"/>
                </a:solidFill>
                <a:latin typeface="Arial" pitchFamily="34" charset="0"/>
                <a:ea typeface="Arial" pitchFamily="34" charset="-122"/>
                <a:cs typeface="Arial" pitchFamily="34" charset="-120"/>
              </a:rPr>
              <a:t>THE BREAKTHROUGH</a:t>
            </a:r>
            <a:endParaRPr lang="en-US" sz="1400" dirty="0"/>
          </a:p>
        </p:txBody>
      </p:sp>
      <p:sp>
        <p:nvSpPr>
          <p:cNvPr id="3" name="Text 1"/>
          <p:cNvSpPr/>
          <p:nvPr>
            <p:ph type="title"/>
          </p:nvPr>
        </p:nvSpPr>
        <p:spPr>
          <a:xfrm>
            <a:off x="812800" y="2128540"/>
            <a:ext cx="10883392"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FFDF8"/>
                </a:solidFill>
                <a:latin typeface="Arial" pitchFamily="34" charset="0"/>
                <a:ea typeface="Arial" pitchFamily="34" charset="-122"/>
                <a:cs typeface="Arial" pitchFamily="34" charset="-120"/>
              </a:rPr>
              <a:t>The same buildings come back every year</a:t>
            </a:r>
            <a:endParaRPr lang="en-US" sz="4800" dirty="0"/>
          </a:p>
        </p:txBody>
      </p:sp>
      <p:sp>
        <p:nvSpPr>
          <p:cNvPr id="4" name="Text 2"/>
          <p:cNvSpPr/>
          <p:nvPr/>
        </p:nvSpPr>
        <p:spPr>
          <a:xfrm>
            <a:off x="812800" y="3662660"/>
            <a:ext cx="1088339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1E3"/>
                </a:solidFill>
                <a:latin typeface="Arial" pitchFamily="34" charset="0"/>
                <a:ea typeface="Arial" pitchFamily="34" charset="-122"/>
                <a:cs typeface="Arial" pitchFamily="34" charset="-120"/>
              </a:rPr>
              <a:t>There is no building ID, but state + class + facility type + floor area + year built identifies a building. </a:t>
            </a:r>
            <a:r>
              <a:rPr lang="en-US" sz="2000" b="1" dirty="0">
                <a:solidFill>
                  <a:srgbClr val="FFF1E3"/>
                </a:solidFill>
                <a:latin typeface="Arial" pitchFamily="34" charset="0"/>
                <a:ea typeface="Arial" pitchFamily="34" charset="-122"/>
                <a:cs typeface="Arial" pitchFamily="34" charset="-120"/>
              </a:rPr>
              <a:t>93%</a:t>
            </a:r>
            <a:r>
              <a:rPr lang="en-US" sz="2000" dirty="0">
                <a:solidFill>
                  <a:srgbClr val="FFF1E3"/>
                </a:solidFill>
                <a:latin typeface="Arial" pitchFamily="34" charset="0"/>
                <a:ea typeface="Arial" pitchFamily="34" charset="-122"/>
                <a:cs typeface="Arial" pitchFamily="34" charset="-120"/>
              </a:rPr>
              <a:t> of test buildings match one we have seen before, so last year’s energy use becomes a feature.</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E7D1"/>
                </a:solidFill>
                <a:latin typeface="Arial" pitchFamily="34" charset="0"/>
                <a:ea typeface="Arial" pitchFamily="34" charset="-122"/>
                <a:cs typeface="Arial" pitchFamily="34" charset="-120"/>
              </a:rPr>
              <a:t>Lag features: last known EUI, mean past EUI, years of history, years since last seen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6F4EE"/>
                </a:solidFill>
                <a:latin typeface="Arial" pitchFamily="34" charset="0"/>
                <a:ea typeface="Arial" pitchFamily="34" charset="-122"/>
                <a:cs typeface="Arial" pitchFamily="34" charset="-120"/>
              </a:rPr>
              <a:t>In the code: rebuilding building IDs and their history</a:t>
            </a:r>
            <a:endParaRPr lang="en-US" sz="2800" dirty="0"/>
          </a:p>
        </p:txBody>
      </p:sp>
      <p:sp>
        <p:nvSpPr>
          <p:cNvPr id="3" name="Text 1"/>
          <p:cNvSpPr/>
          <p:nvPr/>
        </p:nvSpPr>
        <p:spPr>
          <a:xfrm>
            <a:off x="812800" y="1203920"/>
            <a:ext cx="10566400" cy="4032845"/>
          </a:xfrm>
          <a:prstGeom prst="roundRect">
            <a:avLst>
              <a:gd name="adj" fmla="val 1889"/>
            </a:avLst>
          </a:prstGeom>
          <a:solidFill>
            <a:srgbClr val="0D1730"/>
          </a:solidFill>
          <a:ln/>
        </p:spPr>
        <p:txBody>
          <a:bodyPr wrap="square" lIns="231682" tIns="180882" rIns="0" bIns="155482" rtlCol="0" anchor="t">
            <a:normAutofit/>
          </a:bodyPr>
          <a:lstStyle/>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No building ID: rebuild one from the 5 columns that never change</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keyVars = ["State_Factor", "building_class", "facility_type", "floor_area", "year_built"];</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bld = findgroups(both.State_Factor, both.building_class, both.facility_type, ...</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both.floor_area, yearBuilt);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for y = unique(yr)'</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past = byYear(byYear.yr &lt; y, :);   % only EARLIER years: no peeking</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if isempty(past), continue; end</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[pastBld, lastIdx] = unique(past.bld, "last");</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stats = groupsummary(past, "bld", "mean", "mean_eui");</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[isKnown, loc] = ismember(bld, pastBld);</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rows = yr == y &amp; isKnown;</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lagLast(rows)  = past.mean_eui(lastIdx(loc(rows)));  % last known EUI</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lagGap(rows)   = y - past.yr(lastIdx(loc(rows)));    % years since seen</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lagMean(rows)  = stats.mean_mean_eui(loc(rows));     % average past EUI</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    lagCount(rows) = stats.GroupCount(loc(rows));       % years of history</a:t>
            </a:r>
            <a:endParaRPr lang="en-US" sz="1200" dirty="0"/>
          </a:p>
          <a:p>
            <a:pPr algn="l" indent="0" marL="0">
              <a:lnSpc>
                <a:spcPts val="1680"/>
              </a:lnSpc>
              <a:buNone/>
            </a:pPr>
            <a:r>
              <a:rPr lang="en-US" sz="1200" dirty="0">
                <a:solidFill>
                  <a:srgbClr val="E6EBF5"/>
                </a:solidFill>
                <a:latin typeface="Courier New" pitchFamily="49" charset="0"/>
                <a:ea typeface="Courier New" pitchFamily="49" charset="-122"/>
                <a:cs typeface="Courier New" pitchFamily="49" charset="-120"/>
              </a:rPr>
              <a:t>end</a:t>
            </a:r>
            <a:endParaRPr lang="en-US" sz="1200" dirty="0"/>
          </a:p>
        </p:txBody>
      </p:sp>
      <p:sp>
        <p:nvSpPr>
          <p:cNvPr id="4" name="Text 2"/>
          <p:cNvSpPr/>
          <p:nvPr/>
        </p:nvSpPr>
        <p:spPr>
          <a:xfrm>
            <a:off x="812800" y="5439966"/>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A"/>
                </a:solidFill>
                <a:latin typeface="Arial" pitchFamily="34" charset="0"/>
                <a:ea typeface="Arial" pitchFamily="34" charset="-122"/>
                <a:cs typeface="Arial" pitchFamily="34" charset="-120"/>
              </a:rPr>
              <a:t>From </a:t>
            </a:r>
            <a:r>
              <a:rPr lang="en-US" sz="1300" b="1" dirty="0">
                <a:solidFill>
                  <a:srgbClr val="BFC8DA"/>
                </a:solidFill>
                <a:latin typeface="Arial" pitchFamily="34" charset="0"/>
                <a:ea typeface="Arial" pitchFamily="34" charset="-122"/>
                <a:cs typeface="Arial" pitchFamily="34" charset="-120"/>
              </a:rPr>
              <a:t>step1_prepare_data.m</a:t>
            </a:r>
            <a:r>
              <a:rPr lang="en-US" sz="1300" dirty="0">
                <a:solidFill>
                  <a:srgbClr val="BFC8DA"/>
                </a:solidFill>
                <a:latin typeface="Arial" pitchFamily="34" charset="0"/>
                <a:ea typeface="Arial" pitchFamily="34" charset="-122"/>
                <a:cs typeface="Arial" pitchFamily="34" charset="-120"/>
              </a:rPr>
              <a:t> (excerpt). Year 6 validation sees only years 1–5; test year 7 gets history from years 1–6.</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Each iteration cut the error</a:t>
            </a:r>
            <a:endParaRPr lang="en-US" sz="3600" dirty="0"/>
          </a:p>
        </p:txBody>
      </p:sp>
      <p:sp>
        <p:nvSpPr>
          <p:cNvPr id="3" name="Text 1"/>
          <p:cNvSpPr/>
          <p:nvPr/>
        </p:nvSpPr>
        <p:spPr>
          <a:xfrm>
            <a:off x="812800" y="16395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Predict the average</a:t>
            </a:r>
            <a:endParaRPr lang="en-US" sz="1500" dirty="0"/>
          </a:p>
        </p:txBody>
      </p:sp>
      <p:sp>
        <p:nvSpPr>
          <p:cNvPr id="4" name="Shape 2"/>
          <p:cNvSpPr/>
          <p:nvPr/>
        </p:nvSpPr>
        <p:spPr>
          <a:xfrm>
            <a:off x="4521200" y="1620490"/>
            <a:ext cx="5715000" cy="304800"/>
          </a:xfrm>
          <a:prstGeom prst="roundRect">
            <a:avLst>
              <a:gd name="adj" fmla="val 16667"/>
            </a:avLst>
          </a:prstGeom>
          <a:solidFill>
            <a:srgbClr val="B9B4A8"/>
          </a:solidFill>
          <a:ln/>
        </p:spPr>
      </p:sp>
      <p:sp>
        <p:nvSpPr>
          <p:cNvPr id="5" name="Text 3"/>
          <p:cNvSpPr/>
          <p:nvPr/>
        </p:nvSpPr>
        <p:spPr>
          <a:xfrm>
            <a:off x="10388600" y="16395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64.9</a:t>
            </a:r>
            <a:endParaRPr lang="en-US" sz="1500" dirty="0"/>
          </a:p>
        </p:txBody>
      </p:sp>
      <p:sp>
        <p:nvSpPr>
          <p:cNvPr id="6" name="Text 4"/>
          <p:cNvSpPr/>
          <p:nvPr/>
        </p:nvSpPr>
        <p:spPr>
          <a:xfrm>
            <a:off x="812800" y="20713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Linear Regression</a:t>
            </a:r>
            <a:endParaRPr lang="en-US" sz="1500" dirty="0"/>
          </a:p>
        </p:txBody>
      </p:sp>
      <p:sp>
        <p:nvSpPr>
          <p:cNvPr id="7" name="Shape 5"/>
          <p:cNvSpPr/>
          <p:nvPr/>
        </p:nvSpPr>
        <p:spPr>
          <a:xfrm>
            <a:off x="4521200" y="2052290"/>
            <a:ext cx="4781550" cy="304800"/>
          </a:xfrm>
          <a:prstGeom prst="roundRect">
            <a:avLst>
              <a:gd name="adj" fmla="val 16667"/>
            </a:avLst>
          </a:prstGeom>
          <a:solidFill>
            <a:srgbClr val="8FA3BF"/>
          </a:solidFill>
          <a:ln/>
        </p:spPr>
      </p:sp>
      <p:sp>
        <p:nvSpPr>
          <p:cNvPr id="8" name="Text 6"/>
          <p:cNvSpPr/>
          <p:nvPr/>
        </p:nvSpPr>
        <p:spPr>
          <a:xfrm>
            <a:off x="9455150" y="20713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54.3</a:t>
            </a:r>
            <a:endParaRPr lang="en-US" sz="1500" dirty="0"/>
          </a:p>
        </p:txBody>
      </p:sp>
      <p:sp>
        <p:nvSpPr>
          <p:cNvPr id="9" name="Text 7"/>
          <p:cNvSpPr/>
          <p:nvPr/>
        </p:nvSpPr>
        <p:spPr>
          <a:xfrm>
            <a:off x="812800" y="25031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Boosted Trees, tuned</a:t>
            </a:r>
            <a:endParaRPr lang="en-US" sz="1500" dirty="0"/>
          </a:p>
        </p:txBody>
      </p:sp>
      <p:sp>
        <p:nvSpPr>
          <p:cNvPr id="10" name="Shape 8"/>
          <p:cNvSpPr/>
          <p:nvPr/>
        </p:nvSpPr>
        <p:spPr>
          <a:xfrm>
            <a:off x="4521200" y="2484090"/>
            <a:ext cx="4273550" cy="304800"/>
          </a:xfrm>
          <a:prstGeom prst="roundRect">
            <a:avLst>
              <a:gd name="adj" fmla="val 16667"/>
            </a:avLst>
          </a:prstGeom>
          <a:solidFill>
            <a:srgbClr val="5C7FA8"/>
          </a:solidFill>
          <a:ln/>
        </p:spPr>
      </p:sp>
      <p:sp>
        <p:nvSpPr>
          <p:cNvPr id="11" name="Text 9"/>
          <p:cNvSpPr/>
          <p:nvPr/>
        </p:nvSpPr>
        <p:spPr>
          <a:xfrm>
            <a:off x="8947150" y="25031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48.5</a:t>
            </a:r>
            <a:endParaRPr lang="en-US" sz="1500" dirty="0"/>
          </a:p>
        </p:txBody>
      </p:sp>
      <p:sp>
        <p:nvSpPr>
          <p:cNvPr id="12" name="Text 10"/>
          <p:cNvSpPr/>
          <p:nvPr/>
        </p:nvSpPr>
        <p:spPr>
          <a:xfrm>
            <a:off x="812800" y="29349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Bagged Trees (random forest)</a:t>
            </a:r>
            <a:endParaRPr lang="en-US" sz="1500" dirty="0"/>
          </a:p>
        </p:txBody>
      </p:sp>
      <p:sp>
        <p:nvSpPr>
          <p:cNvPr id="13" name="Shape 11"/>
          <p:cNvSpPr/>
          <p:nvPr/>
        </p:nvSpPr>
        <p:spPr>
          <a:xfrm>
            <a:off x="4521200" y="2915890"/>
            <a:ext cx="4140200" cy="304800"/>
          </a:xfrm>
          <a:prstGeom prst="roundRect">
            <a:avLst>
              <a:gd name="adj" fmla="val 16667"/>
            </a:avLst>
          </a:prstGeom>
          <a:solidFill>
            <a:srgbClr val="2F5D8A"/>
          </a:solidFill>
          <a:ln/>
        </p:spPr>
      </p:sp>
      <p:sp>
        <p:nvSpPr>
          <p:cNvPr id="14" name="Text 12"/>
          <p:cNvSpPr/>
          <p:nvPr/>
        </p:nvSpPr>
        <p:spPr>
          <a:xfrm>
            <a:off x="8813800" y="29349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47.0</a:t>
            </a:r>
            <a:endParaRPr lang="en-US" sz="1500" dirty="0"/>
          </a:p>
        </p:txBody>
      </p:sp>
      <p:sp>
        <p:nvSpPr>
          <p:cNvPr id="15" name="Text 13"/>
          <p:cNvSpPr/>
          <p:nvPr/>
        </p:nvSpPr>
        <p:spPr>
          <a:xfrm>
            <a:off x="812800" y="33667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Average of both ensembles</a:t>
            </a:r>
            <a:endParaRPr lang="en-US" sz="1500" dirty="0"/>
          </a:p>
        </p:txBody>
      </p:sp>
      <p:sp>
        <p:nvSpPr>
          <p:cNvPr id="16" name="Shape 14"/>
          <p:cNvSpPr/>
          <p:nvPr/>
        </p:nvSpPr>
        <p:spPr>
          <a:xfrm>
            <a:off x="4521200" y="3347690"/>
            <a:ext cx="4121150" cy="304800"/>
          </a:xfrm>
          <a:prstGeom prst="roundRect">
            <a:avLst>
              <a:gd name="adj" fmla="val 16667"/>
            </a:avLst>
          </a:prstGeom>
          <a:solidFill>
            <a:srgbClr val="1F3F66"/>
          </a:solidFill>
          <a:ln/>
        </p:spPr>
      </p:sp>
      <p:sp>
        <p:nvSpPr>
          <p:cNvPr id="17" name="Text 15"/>
          <p:cNvSpPr/>
          <p:nvPr/>
        </p:nvSpPr>
        <p:spPr>
          <a:xfrm>
            <a:off x="8794750" y="33667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46.8</a:t>
            </a:r>
            <a:endParaRPr lang="en-US" sz="1500" dirty="0"/>
          </a:p>
        </p:txBody>
      </p:sp>
      <p:sp>
        <p:nvSpPr>
          <p:cNvPr id="18" name="Text 16"/>
          <p:cNvSpPr/>
          <p:nvPr/>
        </p:nvSpPr>
        <p:spPr>
          <a:xfrm>
            <a:off x="812800" y="3798540"/>
            <a:ext cx="36626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4621D"/>
                </a:solidFill>
                <a:latin typeface="Arial" pitchFamily="34" charset="0"/>
                <a:ea typeface="Arial" pitchFamily="34" charset="-122"/>
                <a:cs typeface="Arial" pitchFamily="34" charset="-120"/>
              </a:rPr>
              <a:t>Bagged Trees + lag features</a:t>
            </a:r>
            <a:endParaRPr lang="en-US" sz="1500" dirty="0"/>
          </a:p>
        </p:txBody>
      </p:sp>
      <p:sp>
        <p:nvSpPr>
          <p:cNvPr id="19" name="Shape 17"/>
          <p:cNvSpPr/>
          <p:nvPr/>
        </p:nvSpPr>
        <p:spPr>
          <a:xfrm>
            <a:off x="4521200" y="3779490"/>
            <a:ext cx="2324100" cy="304800"/>
          </a:xfrm>
          <a:prstGeom prst="roundRect">
            <a:avLst>
              <a:gd name="adj" fmla="val 16667"/>
            </a:avLst>
          </a:prstGeom>
          <a:solidFill>
            <a:srgbClr val="C4621D"/>
          </a:solidFill>
          <a:ln/>
        </p:spPr>
      </p:sp>
      <p:sp>
        <p:nvSpPr>
          <p:cNvPr id="20" name="Text 18"/>
          <p:cNvSpPr/>
          <p:nvPr/>
        </p:nvSpPr>
        <p:spPr>
          <a:xfrm>
            <a:off x="6997700" y="3798540"/>
            <a:ext cx="4449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4621D"/>
                </a:solidFill>
                <a:latin typeface="Arial" pitchFamily="34" charset="0"/>
                <a:ea typeface="Arial" pitchFamily="34" charset="-122"/>
                <a:cs typeface="Arial" pitchFamily="34" charset="-120"/>
              </a:rPr>
              <a:t>26.4</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RMSE on test-like validation (year 6, excluding State 6). Lower is better. All models are Regression Learner presets.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Arial" pitchFamily="34" charset="0"/>
                <a:ea typeface="Arial" pitchFamily="34" charset="-122"/>
                <a:cs typeface="Arial" pitchFamily="34" charset="-120"/>
              </a:rPr>
              <a:t>In the code: let the evidence pick the model</a:t>
            </a:r>
            <a:endParaRPr lang="en-US" sz="3200" dirty="0"/>
          </a:p>
        </p:txBody>
      </p:sp>
      <p:sp>
        <p:nvSpPr>
          <p:cNvPr id="3" name="Text 1"/>
          <p:cNvSpPr/>
          <p:nvPr/>
        </p:nvSpPr>
        <p:spPr>
          <a:xfrm>
            <a:off x="812800" y="1564630"/>
            <a:ext cx="10566400" cy="2908300"/>
          </a:xfrm>
          <a:prstGeom prst="roundRect">
            <a:avLst>
              <a:gd name="adj" fmla="val 2620"/>
            </a:avLst>
          </a:prstGeom>
          <a:solidFill>
            <a:srgbClr val="0D1730"/>
          </a:solidFill>
          <a:ln/>
        </p:spPr>
        <p:txBody>
          <a:bodyPr wrap="square" lIns="231682" tIns="231682" rIns="0" bIns="206282" rtlCol="0" anchor="t">
            <a:normAutofit/>
          </a:bodyPr>
          <a:lstStyle/>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Averaging two different tree ensembles often cancels part of their errors</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results = addResult(results, "Average of forest and boosting", ...</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(yhatRF + yhatBest) / 2);</a:t>
            </a:r>
            <a:endParaRPr lang="en-US" sz="1400" dirty="0"/>
          </a:p>
          <a:p>
            <a:pPr algn="l" indent="0" marL="0">
              <a:lnSpc>
                <a:spcPts val="2100"/>
              </a:lnSpc>
              <a:buNone/>
            </a:pP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candidates = ["Random forest", "Boosted trees, tuned", ...</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"Average of forest and boosting"];</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candRows = find(ismember(results.Model, candidates));</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k] = min(results.RMSE_TestLike(candRows));</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finalChoice = results.Model(candRows(k));</a:t>
            </a:r>
            <a:endParaRPr lang="en-US" sz="1400" dirty="0"/>
          </a:p>
        </p:txBody>
      </p:sp>
      <p:sp>
        <p:nvSpPr>
          <p:cNvPr id="4" name="Text 2"/>
          <p:cNvSpPr/>
          <p:nvPr/>
        </p:nvSpPr>
        <p:spPr>
          <a:xfrm>
            <a:off x="812800" y="47777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A"/>
                </a:solidFill>
                <a:latin typeface="Arial" pitchFamily="34" charset="0"/>
                <a:ea typeface="Arial" pitchFamily="34" charset="-122"/>
                <a:cs typeface="Arial" pitchFamily="34" charset="-120"/>
              </a:rPr>
              <a:t>From </a:t>
            </a:r>
            <a:r>
              <a:rPr lang="en-US" sz="1500" b="1" dirty="0">
                <a:solidFill>
                  <a:srgbClr val="BFC8DA"/>
                </a:solidFill>
                <a:latin typeface="Arial" pitchFamily="34" charset="0"/>
                <a:ea typeface="Arial" pitchFamily="34" charset="-122"/>
                <a:cs typeface="Arial" pitchFamily="34" charset="-120"/>
              </a:rPr>
              <a:t>step2_train_models.m</a:t>
            </a:r>
            <a:r>
              <a:rPr lang="en-US" sz="1500" dirty="0">
                <a:solidFill>
                  <a:srgbClr val="BFC8DA"/>
                </a:solidFill>
                <a:latin typeface="Arial" pitchFamily="34" charset="0"/>
                <a:ea typeface="Arial" pitchFamily="34" charset="-122"/>
                <a:cs typeface="Arial" pitchFamily="34" charset="-120"/>
              </a:rPr>
              <a:t>. Step 3 retrains </a:t>
            </a:r>
            <a:r>
              <a:rPr lang="en-US" sz="1500" dirty="0">
                <a:solidFill>
                  <a:srgbClr val="F2A65A"/>
                </a:solidFill>
                <a:latin typeface="Arial" pitchFamily="34" charset="0"/>
                <a:ea typeface="Arial" pitchFamily="34" charset="-122"/>
                <a:cs typeface="Arial" pitchFamily="34" charset="-120"/>
              </a:rPr>
              <a:t>finalChoice</a:t>
            </a:r>
            <a:r>
              <a:rPr lang="en-US" sz="1500" dirty="0">
                <a:solidFill>
                  <a:srgbClr val="BFC8DA"/>
                </a:solidFill>
                <a:latin typeface="Arial" pitchFamily="34" charset="0"/>
                <a:ea typeface="Arial" pitchFamily="34" charset="-122"/>
                <a:cs typeface="Arial" pitchFamily="34" charset="-120"/>
              </a:rPr>
              <a:t> on all six years before predicting the test set.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A MATLAB lesson: how trees handle missing values</a:t>
            </a:r>
            <a:endParaRPr lang="en-US" sz="3600" dirty="0"/>
          </a:p>
        </p:txBody>
      </p:sp>
      <p:sp>
        <p:nvSpPr>
          <p:cNvPr id="3" name="Shape 1"/>
          <p:cNvSpPr/>
          <p:nvPr/>
        </p:nvSpPr>
        <p:spPr>
          <a:xfrm>
            <a:off x="815975" y="2177355"/>
            <a:ext cx="5168900" cy="2071291"/>
          </a:xfrm>
          <a:prstGeom prst="roundRect">
            <a:avLst>
              <a:gd name="adj" fmla="val 4752"/>
            </a:avLst>
          </a:prstGeom>
          <a:solidFill>
            <a:srgbClr val="FFFDF8"/>
          </a:solidFill>
          <a:ln w="6350">
            <a:solidFill>
              <a:srgbClr val="DDD8CC"/>
            </a:solidFill>
            <a:prstDash val="solid"/>
          </a:ln>
        </p:spPr>
      </p:sp>
      <p:sp>
        <p:nvSpPr>
          <p:cNvPr id="4" name="Text 2"/>
          <p:cNvSpPr/>
          <p:nvPr/>
        </p:nvSpPr>
        <p:spPr>
          <a:xfrm>
            <a:off x="1073150" y="2434530"/>
            <a:ext cx="47941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A5568"/>
                </a:solidFill>
                <a:latin typeface="Arial" pitchFamily="34" charset="0"/>
                <a:ea typeface="Arial" pitchFamily="34" charset="-122"/>
                <a:cs typeface="Arial" pitchFamily="34" charset="-120"/>
              </a:rPr>
              <a:t>The problem</a:t>
            </a:r>
            <a:endParaRPr lang="en-US" sz="2000" dirty="0"/>
          </a:p>
        </p:txBody>
      </p:sp>
      <p:sp>
        <p:nvSpPr>
          <p:cNvPr id="5" name="Text 3"/>
          <p:cNvSpPr/>
          <p:nvPr/>
        </p:nvSpPr>
        <p:spPr>
          <a:xfrm>
            <a:off x="1073150" y="2840930"/>
            <a:ext cx="4794187"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Without surrogate splits, a building with a missing value stops partway down each tree and gets a rough average. About 1 in 3 buildings has no Energy Star rating.</a:t>
            </a:r>
            <a:endParaRPr lang="en-US" sz="1600" dirty="0"/>
          </a:p>
        </p:txBody>
      </p:sp>
      <p:sp>
        <p:nvSpPr>
          <p:cNvPr id="6" name="Shape 4"/>
          <p:cNvSpPr/>
          <p:nvPr/>
        </p:nvSpPr>
        <p:spPr>
          <a:xfrm>
            <a:off x="6197600" y="2180530"/>
            <a:ext cx="5175250" cy="2064941"/>
          </a:xfrm>
          <a:prstGeom prst="roundRect">
            <a:avLst>
              <a:gd name="adj" fmla="val 4613"/>
            </a:avLst>
          </a:prstGeom>
          <a:solidFill>
            <a:srgbClr val="FFFDF8"/>
          </a:solidFill>
          <a:ln w="12700">
            <a:solidFill>
              <a:srgbClr val="C4621D"/>
            </a:solidFill>
            <a:prstDash val="solid"/>
          </a:ln>
        </p:spPr>
      </p:sp>
      <p:sp>
        <p:nvSpPr>
          <p:cNvPr id="7" name="Text 5"/>
          <p:cNvSpPr/>
          <p:nvPr/>
        </p:nvSpPr>
        <p:spPr>
          <a:xfrm>
            <a:off x="6457950" y="2440880"/>
            <a:ext cx="47941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4621D"/>
                </a:solidFill>
                <a:latin typeface="Arial" pitchFamily="34" charset="0"/>
                <a:ea typeface="Arial" pitchFamily="34" charset="-122"/>
                <a:cs typeface="Arial" pitchFamily="34" charset="-120"/>
              </a:rPr>
              <a:t>Our fix</a:t>
            </a:r>
            <a:endParaRPr lang="en-US" sz="2000" dirty="0"/>
          </a:p>
        </p:txBody>
      </p:sp>
      <p:sp>
        <p:nvSpPr>
          <p:cNvPr id="8" name="Text 6"/>
          <p:cNvSpPr/>
          <p:nvPr/>
        </p:nvSpPr>
        <p:spPr>
          <a:xfrm>
            <a:off x="6457950" y="2847280"/>
            <a:ext cx="4794187"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Replace missing values with an out-of-range marker (−999) for tree models only, so they get their own branch. The “missing” flag keeps the information.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Arial" pitchFamily="34" charset="0"/>
                <a:ea typeface="Arial" pitchFamily="34" charset="-122"/>
                <a:cs typeface="Arial" pitchFamily="34" charset="-120"/>
              </a:rPr>
              <a:t>In the code: giving missing values their own branch</a:t>
            </a:r>
            <a:endParaRPr lang="en-US" sz="3200" dirty="0"/>
          </a:p>
        </p:txBody>
      </p:sp>
      <p:sp>
        <p:nvSpPr>
          <p:cNvPr id="3" name="Text 1"/>
          <p:cNvSpPr/>
          <p:nvPr/>
        </p:nvSpPr>
        <p:spPr>
          <a:xfrm>
            <a:off x="812800" y="1564630"/>
            <a:ext cx="10566400" cy="2908300"/>
          </a:xfrm>
          <a:prstGeom prst="roundRect">
            <a:avLst>
              <a:gd name="adj" fmla="val 2620"/>
            </a:avLst>
          </a:prstGeom>
          <a:solidFill>
            <a:srgbClr val="0D1730"/>
          </a:solidFill>
          <a:ln/>
        </p:spPr>
        <p:txBody>
          <a:bodyPr wrap="square" lIns="231682" tIns="231682" rIns="0" bIns="206282" rtlCol="0" anchor="t">
            <a:normAutofit/>
          </a:bodyPr>
          <a:lstStyle/>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function X = fillSentinel(X)</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Replace NaN in numeric predictors with an out-of-range value for tree models.</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MATLAB trees without surrogate splits stop a NaN observation at the split node,</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so an explicit sentinel lets the tree send "missing" down its own branch.</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isNum = varfun(@isnumeric, X, "OutputFormat", "uniform");</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for v = string(X.Properties.VariableNames(isNum))</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X.(v) = fillmissing(X.(v), "constant", -999);</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    end</a:t>
            </a:r>
            <a:endParaRPr lang="en-US" sz="1400" dirty="0"/>
          </a:p>
          <a:p>
            <a:pPr algn="l" indent="0" marL="0">
              <a:lnSpc>
                <a:spcPts val="2100"/>
              </a:lnSpc>
              <a:buNone/>
            </a:pPr>
            <a:r>
              <a:rPr lang="en-US" sz="1400" dirty="0">
                <a:solidFill>
                  <a:srgbClr val="E6EBF5"/>
                </a:solidFill>
                <a:latin typeface="Courier New" pitchFamily="49" charset="0"/>
                <a:ea typeface="Courier New" pitchFamily="49" charset="-122"/>
                <a:cs typeface="Courier New" pitchFamily="49" charset="-120"/>
              </a:rPr>
              <a:t>end</a:t>
            </a:r>
            <a:endParaRPr lang="en-US" sz="1400" dirty="0"/>
          </a:p>
        </p:txBody>
      </p:sp>
      <p:sp>
        <p:nvSpPr>
          <p:cNvPr id="4" name="Text 2"/>
          <p:cNvSpPr/>
          <p:nvPr/>
        </p:nvSpPr>
        <p:spPr>
          <a:xfrm>
            <a:off x="812800" y="47777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FC8DA"/>
                </a:solidFill>
                <a:latin typeface="Arial" pitchFamily="34" charset="0"/>
                <a:ea typeface="Arial" pitchFamily="34" charset="-122"/>
                <a:cs typeface="Arial" pitchFamily="34" charset="-120"/>
              </a:rPr>
              <a:t>fillSentinel.m</a:t>
            </a:r>
            <a:r>
              <a:rPr lang="en-US" sz="1500" dirty="0">
                <a:solidFill>
                  <a:srgbClr val="BFC8DA"/>
                </a:solidFill>
                <a:latin typeface="Arial" pitchFamily="34" charset="0"/>
                <a:ea typeface="Arial" pitchFamily="34" charset="-122"/>
                <a:cs typeface="Arial" pitchFamily="34" charset="-120"/>
              </a:rPr>
              <a:t>, applied before every tree model. Linear regression keeps median imputation instead.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Arial" pitchFamily="34" charset="0"/>
                <a:ea typeface="Arial" pitchFamily="34" charset="-122"/>
                <a:cs typeface="Arial" pitchFamily="34" charset="-120"/>
              </a:rPr>
              <a:t>One command reproduces everything</a:t>
            </a:r>
            <a:endParaRPr lang="en-US" sz="3600" dirty="0"/>
          </a:p>
        </p:txBody>
      </p:sp>
      <p:sp>
        <p:nvSpPr>
          <p:cNvPr id="3" name="Shape 1"/>
          <p:cNvSpPr/>
          <p:nvPr/>
        </p:nvSpPr>
        <p:spPr>
          <a:xfrm>
            <a:off x="812800" y="1722090"/>
            <a:ext cx="3420517" cy="1351211"/>
          </a:xfrm>
          <a:prstGeom prst="roundRect">
            <a:avLst>
              <a:gd name="adj" fmla="val 7519"/>
            </a:avLst>
          </a:prstGeom>
          <a:solidFill>
            <a:srgbClr val="22325A"/>
          </a:solidFill>
          <a:ln/>
        </p:spPr>
      </p:sp>
      <p:sp>
        <p:nvSpPr>
          <p:cNvPr id="4" name="Text 2"/>
          <p:cNvSpPr/>
          <p:nvPr/>
        </p:nvSpPr>
        <p:spPr>
          <a:xfrm>
            <a:off x="1041400" y="1950690"/>
            <a:ext cx="30522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A65A"/>
                </a:solidFill>
                <a:latin typeface="Arial" pitchFamily="34" charset="0"/>
                <a:ea typeface="Arial" pitchFamily="34" charset="-122"/>
                <a:cs typeface="Arial" pitchFamily="34" charset="-120"/>
              </a:rPr>
              <a:t>1 · Prepare</a:t>
            </a:r>
            <a:endParaRPr lang="en-US" sz="1800" dirty="0"/>
          </a:p>
        </p:txBody>
      </p:sp>
      <p:sp>
        <p:nvSpPr>
          <p:cNvPr id="5" name="Text 3"/>
          <p:cNvSpPr/>
          <p:nvPr/>
        </p:nvSpPr>
        <p:spPr>
          <a:xfrm>
            <a:off x="1041400" y="2346920"/>
            <a:ext cx="30522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A"/>
                </a:solidFill>
                <a:latin typeface="Arial" pitchFamily="34" charset="0"/>
                <a:ea typeface="Arial" pitchFamily="34" charset="-122"/>
                <a:cs typeface="Arial" pitchFamily="34" charset="-120"/>
              </a:rPr>
              <a:t>Clean, engineer features, build year-based split</a:t>
            </a:r>
            <a:endParaRPr lang="en-US" sz="1400" dirty="0"/>
          </a:p>
        </p:txBody>
      </p:sp>
      <p:sp>
        <p:nvSpPr>
          <p:cNvPr id="6" name="Shape 4"/>
          <p:cNvSpPr/>
          <p:nvPr/>
        </p:nvSpPr>
        <p:spPr>
          <a:xfrm>
            <a:off x="4385717" y="1722090"/>
            <a:ext cx="3420566" cy="1351211"/>
          </a:xfrm>
          <a:prstGeom prst="roundRect">
            <a:avLst>
              <a:gd name="adj" fmla="val 7519"/>
            </a:avLst>
          </a:prstGeom>
          <a:solidFill>
            <a:srgbClr val="22325A"/>
          </a:solidFill>
          <a:ln/>
        </p:spPr>
      </p:sp>
      <p:sp>
        <p:nvSpPr>
          <p:cNvPr id="7" name="Text 5"/>
          <p:cNvSpPr/>
          <p:nvPr/>
        </p:nvSpPr>
        <p:spPr>
          <a:xfrm>
            <a:off x="4614317" y="1950690"/>
            <a:ext cx="305226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A65A"/>
                </a:solidFill>
                <a:latin typeface="Arial" pitchFamily="34" charset="0"/>
                <a:ea typeface="Arial" pitchFamily="34" charset="-122"/>
                <a:cs typeface="Arial" pitchFamily="34" charset="-120"/>
              </a:rPr>
              <a:t>2 · Compare</a:t>
            </a:r>
            <a:endParaRPr lang="en-US" sz="1800" dirty="0"/>
          </a:p>
        </p:txBody>
      </p:sp>
      <p:sp>
        <p:nvSpPr>
          <p:cNvPr id="8" name="Text 6"/>
          <p:cNvSpPr/>
          <p:nvPr/>
        </p:nvSpPr>
        <p:spPr>
          <a:xfrm>
            <a:off x="4614317" y="2346920"/>
            <a:ext cx="305226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A"/>
                </a:solidFill>
                <a:latin typeface="Arial" pitchFamily="34" charset="0"/>
                <a:ea typeface="Arial" pitchFamily="34" charset="-122"/>
                <a:cs typeface="Arial" pitchFamily="34" charset="-120"/>
              </a:rPr>
              <a:t>Train baselines and ensembles, tune, pick the best automatically</a:t>
            </a:r>
            <a:endParaRPr lang="en-US" sz="1400" dirty="0"/>
          </a:p>
        </p:txBody>
      </p:sp>
      <p:sp>
        <p:nvSpPr>
          <p:cNvPr id="9" name="Shape 7"/>
          <p:cNvSpPr/>
          <p:nvPr/>
        </p:nvSpPr>
        <p:spPr>
          <a:xfrm>
            <a:off x="7958683" y="1722090"/>
            <a:ext cx="3420517" cy="1351211"/>
          </a:xfrm>
          <a:prstGeom prst="roundRect">
            <a:avLst>
              <a:gd name="adj" fmla="val 7519"/>
            </a:avLst>
          </a:prstGeom>
          <a:solidFill>
            <a:srgbClr val="22325A"/>
          </a:solidFill>
          <a:ln/>
        </p:spPr>
      </p:sp>
      <p:sp>
        <p:nvSpPr>
          <p:cNvPr id="10" name="Text 8"/>
          <p:cNvSpPr/>
          <p:nvPr/>
        </p:nvSpPr>
        <p:spPr>
          <a:xfrm>
            <a:off x="8187283" y="1950690"/>
            <a:ext cx="30522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A65A"/>
                </a:solidFill>
                <a:latin typeface="Arial" pitchFamily="34" charset="0"/>
                <a:ea typeface="Arial" pitchFamily="34" charset="-122"/>
                <a:cs typeface="Arial" pitchFamily="34" charset="-120"/>
              </a:rPr>
              <a:t>3 · Submit</a:t>
            </a:r>
            <a:endParaRPr lang="en-US" sz="1800" dirty="0"/>
          </a:p>
        </p:txBody>
      </p:sp>
      <p:sp>
        <p:nvSpPr>
          <p:cNvPr id="11" name="Text 9"/>
          <p:cNvSpPr/>
          <p:nvPr/>
        </p:nvSpPr>
        <p:spPr>
          <a:xfrm>
            <a:off x="8187283" y="2346920"/>
            <a:ext cx="30522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A"/>
                </a:solidFill>
                <a:latin typeface="Arial" pitchFamily="34" charset="0"/>
                <a:ea typeface="Arial" pitchFamily="34" charset="-122"/>
                <a:cs typeface="Arial" pitchFamily="34" charset="-120"/>
              </a:rPr>
              <a:t>Retrain on all years, predict, check against sample format</a:t>
            </a:r>
            <a:endParaRPr lang="en-US" sz="1400" dirty="0"/>
          </a:p>
        </p:txBody>
      </p:sp>
      <p:sp>
        <p:nvSpPr>
          <p:cNvPr id="12" name="Text 10"/>
          <p:cNvSpPr/>
          <p:nvPr/>
        </p:nvSpPr>
        <p:spPr>
          <a:xfrm>
            <a:off x="812800" y="3479701"/>
            <a:ext cx="10566400" cy="675630"/>
          </a:xfrm>
          <a:prstGeom prst="roundRect">
            <a:avLst>
              <a:gd name="adj" fmla="val 11278"/>
            </a:avLst>
          </a:prstGeom>
          <a:solidFill>
            <a:srgbClr val="0D1730"/>
          </a:solidFill>
          <a:ln/>
        </p:spPr>
        <p:txBody>
          <a:bodyPr wrap="square" lIns="206282" tIns="155482" rIns="0" bIns="130082" rtlCol="0" anchor="t">
            <a:normAutofit/>
          </a:bodyPr>
          <a:lstStyle/>
          <a:p>
            <a:pPr algn="l" indent="0" marL="0">
              <a:lnSpc>
                <a:spcPts val="2520"/>
              </a:lnSpc>
              <a:buNone/>
            </a:pPr>
            <a:r>
              <a:rPr lang="en-US" sz="1800" dirty="0">
                <a:solidFill>
                  <a:srgbClr val="F6F4EE"/>
                </a:solidFill>
                <a:latin typeface="Courier New" pitchFamily="49" charset="0"/>
                <a:ea typeface="Courier New" pitchFamily="49" charset="-122"/>
                <a:cs typeface="Courier New" pitchFamily="49" charset="-120"/>
              </a:rPr>
              <a:t>&gt;&gt; runAll</a:t>
            </a:r>
            <a:endParaRPr lang="en-US" sz="18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A"/>
                </a:solidFill>
                <a:latin typeface="Arial" pitchFamily="34" charset="0"/>
                <a:ea typeface="Arial" pitchFamily="34" charset="-122"/>
                <a:cs typeface="Arial" pitchFamily="34" charset="-120"/>
              </a:rPr>
              <a:t>Code: github.com/dgmtriet/Hackathon2026 · branch lam_workings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What we’d tell the next team</a:t>
            </a:r>
            <a:endParaRPr lang="en-US" sz="3600" dirty="0"/>
          </a:p>
        </p:txBody>
      </p:sp>
      <p:sp>
        <p:nvSpPr>
          <p:cNvPr id="3" name="Text 1"/>
          <p:cNvSpPr/>
          <p:nvPr/>
        </p:nvSpPr>
        <p:spPr>
          <a:xfrm>
            <a:off x="784374" y="1671290"/>
            <a:ext cx="10904198" cy="1549400"/>
          </a:xfrm>
          <a:prstGeom prst="rect">
            <a:avLst/>
          </a:prstGeom>
          <a:noFill/>
          <a:ln/>
        </p:spPr>
        <p:txBody>
          <a:bodyPr wrap="square" lIns="0" tIns="0" rIns="0" bIns="0" rtlCol="0" anchor="t">
            <a:normAutofit/>
          </a:bodyPr>
          <a:lstStyle/>
          <a:p>
            <a:pPr algn="l" marL="282426" indent="-282426">
              <a:lnSpc>
                <a:spcPts val="3000"/>
              </a:lnSpc>
              <a:buSzPct val="100000"/>
              <a:buFontTx/>
              <a:buAutoNum type="arabicPeriod" startAt="1"/>
            </a:pPr>
            <a:r>
              <a:rPr lang="en-US" sz="2000" dirty="0">
                <a:solidFill>
                  <a:srgbClr val="14213D"/>
                </a:solidFill>
                <a:latin typeface="Arial" pitchFamily="34" charset="0"/>
                <a:ea typeface="Arial" pitchFamily="34" charset="-122"/>
                <a:cs typeface="Arial" pitchFamily="34" charset="-120"/>
              </a:rPr>
              <a:t>Look at how the test set differs before choosing a split</a:t>
            </a:r>
            <a:endParaRPr lang="en-US" sz="2000" dirty="0"/>
          </a:p>
          <a:p>
            <a:pPr algn="l" marL="282426" indent="-282426">
              <a:lnSpc>
                <a:spcPts val="3000"/>
              </a:lnSpc>
              <a:buSzPct val="100000"/>
              <a:buFontTx/>
              <a:buAutoNum type="arabicPeriod" startAt="1"/>
            </a:pPr>
            <a:r>
              <a:rPr lang="en-US" sz="2000" dirty="0">
                <a:solidFill>
                  <a:srgbClr val="14213D"/>
                </a:solidFill>
                <a:latin typeface="Arial" pitchFamily="34" charset="0"/>
                <a:ea typeface="Arial" pitchFamily="34" charset="-122"/>
                <a:cs typeface="Arial" pitchFamily="34" charset="-120"/>
              </a:rPr>
              <a:t>Domain knowledge beat model choice: a building’s past use is its best predictor</a:t>
            </a:r>
            <a:endParaRPr lang="en-US" sz="2000" dirty="0"/>
          </a:p>
          <a:p>
            <a:pPr algn="l" marL="282426" indent="-282426">
              <a:lnSpc>
                <a:spcPts val="3000"/>
              </a:lnSpc>
              <a:buSzPct val="100000"/>
              <a:buFontTx/>
              <a:buAutoNum type="arabicPeriod" startAt="1"/>
            </a:pPr>
            <a:r>
              <a:rPr lang="en-US" sz="2000" dirty="0">
                <a:solidFill>
                  <a:srgbClr val="14213D"/>
                </a:solidFill>
                <a:latin typeface="Arial" pitchFamily="34" charset="0"/>
                <a:ea typeface="Arial" pitchFamily="34" charset="-122"/>
                <a:cs typeface="Arial" pitchFamily="34" charset="-120"/>
              </a:rPr>
              <a:t>Know how your tools treat missing values</a:t>
            </a:r>
            <a:endParaRPr lang="en-US" sz="2000" dirty="0"/>
          </a:p>
          <a:p>
            <a:pPr algn="l" marL="282426" indent="-282426">
              <a:lnSpc>
                <a:spcPts val="3000"/>
              </a:lnSpc>
              <a:buSzPct val="100000"/>
              <a:buFontTx/>
              <a:buAutoNum type="arabicPeriod" startAt="1"/>
            </a:pPr>
            <a:r>
              <a:rPr lang="en-US" sz="2000" dirty="0">
                <a:solidFill>
                  <a:srgbClr val="14213D"/>
                </a:solidFill>
                <a:latin typeface="Arial" pitchFamily="34" charset="0"/>
                <a:ea typeface="Arial" pitchFamily="34" charset="-122"/>
                <a:cs typeface="Arial" pitchFamily="34" charset="-120"/>
              </a:rPr>
              <a:t>Simple app models, used carefully, go a long way</a:t>
            </a:r>
            <a:endParaRPr lang="en-US" sz="2000" dirty="0"/>
          </a:p>
        </p:txBody>
      </p:sp>
      <p:sp>
        <p:nvSpPr>
          <p:cNvPr id="4" name="Text 2"/>
          <p:cNvSpPr/>
          <p:nvPr/>
        </p:nvSpPr>
        <p:spPr>
          <a:xfrm>
            <a:off x="812800" y="355089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C4621D"/>
                </a:solidFill>
                <a:latin typeface="Arial" pitchFamily="34" charset="0"/>
                <a:ea typeface="Arial" pitchFamily="34" charset="-122"/>
                <a:cs typeface="Arial" pitchFamily="34" charset="-120"/>
              </a:rPr>
              <a:t>Next: rank buildings by how far they exceed their predicted EUI to target retrofits.</a:t>
            </a:r>
            <a:endParaRPr lang="en-US" sz="1800" dirty="0"/>
          </a:p>
        </p:txBody>
      </p:sp>
    </p:spTree>
  </p:cSld>
  <p:clrMapOvr>
    <a:masterClrMapping/>
  </p:clrMapOvr>
</p:sld>
</file>

<file path=ppt/theme/theme1.xml><?xml version="1.0" encoding="utf-8"?>
<a:theme xmlns:a="http://schemas.openxmlformats.org/drawingml/2006/main" name="Predicting Building Energy Use">
  <a:themeElements>
    <a:clrScheme name="Predicting Building Energy Use">
      <a:dk1>
        <a:srgbClr val="14213D"/>
      </a:dk1>
      <a:lt1>
        <a:srgbClr val="F6F4EE"/>
      </a:lt1>
      <a:dk2>
        <a:srgbClr val="4D5669"/>
      </a:dk2>
      <a:lt2>
        <a:srgbClr val="DFDFDC"/>
      </a:lt2>
      <a:accent1>
        <a:srgbClr val="C4621D"/>
      </a:accent1>
      <a:accent2>
        <a:srgbClr val="F2A65A"/>
      </a:accent2>
      <a:accent3>
        <a:srgbClr val="22325A"/>
      </a:accent3>
      <a:accent4>
        <a:srgbClr val="2F5D8A"/>
      </a:accent4>
      <a:accent5>
        <a:srgbClr val="FFE7D1"/>
      </a:accent5>
      <a:accent6>
        <a:srgbClr val="8FA3BF"/>
      </a:accent6>
      <a:hlink>
        <a:srgbClr val="0563C1"/>
      </a:hlink>
      <a:folHlink>
        <a:srgbClr val="954F72"/>
      </a:folHlink>
    </a:clrScheme>
    <a:fontScheme name="Predicting Building Energy U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Building Energy Use</dc:title>
  <dc:subject/>
  <dc:creator/>
  <cp:lastModifiedBy/>
  <cp:revision>1</cp:revision>
  <dcterms:created xsi:type="dcterms:W3CDTF">2026-10-30T06:35:22Z</dcterms:created>
  <dcterms:modified xsi:type="dcterms:W3CDTF">2026-10-30T06:35:22Z</dcterms:modified>
</cp:coreProperties>
</file>